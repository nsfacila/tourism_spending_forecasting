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86" r:id="rId1"/>
  </p:sldMasterIdLst>
  <p:notesMasterIdLst>
    <p:notesMasterId r:id="rId19"/>
  </p:notesMasterIdLst>
  <p:sldIdLst>
    <p:sldId id="256" r:id="rId2"/>
    <p:sldId id="271" r:id="rId3"/>
    <p:sldId id="257" r:id="rId4"/>
    <p:sldId id="258" r:id="rId5"/>
    <p:sldId id="259" r:id="rId6"/>
    <p:sldId id="260" r:id="rId7"/>
    <p:sldId id="275" r:id="rId8"/>
    <p:sldId id="277" r:id="rId9"/>
    <p:sldId id="276" r:id="rId10"/>
    <p:sldId id="263" r:id="rId11"/>
    <p:sldId id="264" r:id="rId12"/>
    <p:sldId id="273" r:id="rId13"/>
    <p:sldId id="265" r:id="rId14"/>
    <p:sldId id="266" r:id="rId15"/>
    <p:sldId id="267" r:id="rId16"/>
    <p:sldId id="270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EAE7"/>
    <a:srgbClr val="F8FAFC"/>
    <a:srgbClr val="0D9488"/>
    <a:srgbClr val="FDFFFE"/>
    <a:srgbClr val="F8FCFB"/>
    <a:srgbClr val="6B8891"/>
    <a:srgbClr val="0B1329"/>
    <a:srgbClr val="FFFFFF"/>
    <a:srgbClr val="F1F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0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EA294-58E5-43F2-9812-D0B9EDE23417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2A19C-05E8-4608-9D49-EB73D1B1DD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0537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2A19C-05E8-4608-9D49-EB73D1B1DDBC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1712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2A19C-05E8-4608-9D49-EB73D1B1DDBC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677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2A19C-05E8-4608-9D49-EB73D1B1DDBC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2682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2A19C-05E8-4608-9D49-EB73D1B1DDBC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3673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2A19C-05E8-4608-9D49-EB73D1B1DDBC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2101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2A19C-05E8-4608-9D49-EB73D1B1DDBC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3470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2A19C-05E8-4608-9D49-EB73D1B1DDBC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9749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2A19C-05E8-4608-9D49-EB73D1B1DDBC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6935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2A19C-05E8-4608-9D49-EB73D1B1DDBC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1952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2A19C-05E8-4608-9D49-EB73D1B1DDBC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8857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22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7715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6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868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47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793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269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26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9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37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9546" y="1398371"/>
            <a:ext cx="11095897" cy="2400657"/>
          </a:xfrm>
          <a:prstGeom prst="rect">
            <a:avLst/>
          </a:prstGeom>
          <a:noFill/>
          <a:ln>
            <a:solidFill>
              <a:srgbClr val="6B8891"/>
            </a:solidFill>
          </a:ln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FFFFF"/>
                </a:solidFill>
                <a:latin typeface="Arial"/>
              </a:defRPr>
            </a:pPr>
            <a:r>
              <a:rPr lang="es-ES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Predicción del Gasto Turístico Internacional mediante Machine </a:t>
            </a:r>
            <a:r>
              <a:rPr lang="es-ES" b="1" i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Learning</a:t>
            </a:r>
            <a:endParaRPr dirty="0">
              <a:ln>
                <a:solidFill>
                  <a:srgbClr val="0B1329"/>
                </a:solidFill>
              </a:ln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9546" y="3986912"/>
            <a:ext cx="10147051" cy="38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1F5F9"/>
                </a:solidFill>
              </a:defRPr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Proyecto Regresión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9546" y="4436471"/>
            <a:ext cx="48778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rPr dirty="0" err="1">
                <a:solidFill>
                  <a:srgbClr val="6B88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Equipo</a:t>
            </a:r>
            <a:r>
              <a:rPr dirty="0">
                <a:solidFill>
                  <a:srgbClr val="6B88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Desarrollo </a:t>
            </a:r>
            <a:r>
              <a:rPr lang="es-ES" dirty="0">
                <a:solidFill>
                  <a:srgbClr val="6B88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dirty="0">
                <a:solidFill>
                  <a:srgbClr val="6B88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Grupo 4</a:t>
            </a:r>
            <a:r>
              <a:rPr lang="es-ES" dirty="0">
                <a:solidFill>
                  <a:srgbClr val="6B88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Sonia, Manuel, Noelia e Irene.</a:t>
            </a:r>
            <a:endParaRPr dirty="0">
              <a:solidFill>
                <a:srgbClr val="6B88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E3FFB3D-438E-4991-933A-288EB5EF6FC6}"/>
              </a:ext>
            </a:extLst>
          </p:cNvPr>
          <p:cNvSpPr/>
          <p:nvPr/>
        </p:nvSpPr>
        <p:spPr>
          <a:xfrm>
            <a:off x="1496" y="6122397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1AD640C-A5B9-CE92-A4FC-33463F420D08}"/>
              </a:ext>
            </a:extLst>
          </p:cNvPr>
          <p:cNvSpPr/>
          <p:nvPr/>
        </p:nvSpPr>
        <p:spPr>
          <a:xfrm flipH="1">
            <a:off x="435721" y="1398370"/>
            <a:ext cx="113824" cy="3345877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27E6A37-FB9F-CB09-9A5A-C111639C22BF}"/>
              </a:ext>
            </a:extLst>
          </p:cNvPr>
          <p:cNvSpPr/>
          <p:nvPr/>
        </p:nvSpPr>
        <p:spPr>
          <a:xfrm>
            <a:off x="640080" y="1802169"/>
            <a:ext cx="10629602" cy="386411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00" name="Big Number"/>
          <p:cNvSpPr/>
          <p:nvPr/>
        </p:nvSpPr>
        <p:spPr>
          <a:xfrm>
            <a:off x="11269683" y="0"/>
            <a:ext cx="922316" cy="905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4000" b="1" dirty="0">
                <a:solidFill>
                  <a:srgbClr val="E2E8F0"/>
                </a:solidFill>
                <a:latin typeface="Arial"/>
              </a:rPr>
              <a:t>0</a:t>
            </a:r>
            <a:r>
              <a:rPr lang="es-ES" sz="4000" b="1" dirty="0">
                <a:solidFill>
                  <a:srgbClr val="E2E8F0"/>
                </a:solidFill>
                <a:latin typeface="Arial"/>
              </a:rPr>
              <a:t>0</a:t>
            </a:r>
            <a:endParaRPr sz="4000" b="1" dirty="0">
              <a:solidFill>
                <a:srgbClr val="E2E8F0"/>
              </a:solidFill>
              <a:latin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0080" y="457201"/>
            <a:ext cx="10629603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rPr lang="es-ES" sz="3000" dirty="0"/>
              <a:t>Predicción del Gasto Turístico mediante Ciencia de Datos</a:t>
            </a:r>
            <a:endParaRPr sz="3000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B73951FB-8BE0-D30B-AD19-29FAAB87CB6E}"/>
              </a:ext>
            </a:extLst>
          </p:cNvPr>
          <p:cNvSpPr txBox="1"/>
          <p:nvPr/>
        </p:nvSpPr>
        <p:spPr>
          <a:xfrm>
            <a:off x="914400" y="2240873"/>
            <a:ext cx="9963397" cy="303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Este proyecto desarrolla un modelo predictivo capaz de estimar el </a:t>
            </a:r>
            <a:r>
              <a:rPr lang="es-ES" sz="1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Gasto Total de un Viaje (USD)</a:t>
            </a:r>
            <a:r>
              <a:rPr lang="es-E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partir de variables relacionadas con el perfil del turista (</a:t>
            </a:r>
            <a:r>
              <a:rPr lang="es-ES" sz="15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global_tourism_travel_trends.csv</a:t>
            </a:r>
            <a:r>
              <a:rPr lang="es-E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), la duración de la estancia y el presupuesto disponible.</a:t>
            </a:r>
          </a:p>
          <a:p>
            <a:pPr algn="just"/>
            <a:r>
              <a:rPr lang="es-E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lo largo de las </a:t>
            </a:r>
            <a:r>
              <a:rPr lang="es-ES" sz="1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fases de trabajo</a:t>
            </a:r>
            <a:r>
              <a:rPr lang="es-E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se implementa el ciclo completo de un proyecto de Ciencia de Datos: desde la exploración y limpieza de datos hasta la optimización avanzada de modelos mediante </a:t>
            </a:r>
            <a:r>
              <a:rPr lang="es-ES" sz="15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Optuna</a:t>
            </a:r>
            <a:r>
              <a:rPr lang="es-E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 su despliegue final en una aplicación interactiva desarrollada con </a:t>
            </a:r>
            <a:r>
              <a:rPr lang="es-ES" sz="15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Streamlit</a:t>
            </a:r>
            <a:r>
              <a:rPr lang="es-E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es-E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Objetivos principales: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s-E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Comprender los patrones de gasto en turismo.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Construir modelos predictivos robustos y escalables.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Optimizar </a:t>
            </a:r>
            <a:r>
              <a:rPr lang="es-ES" sz="15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hiperparámetros</a:t>
            </a:r>
            <a:r>
              <a:rPr lang="es-E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para maximizar el rendimiento.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Desplegar una solución lista para producción.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85E2B4E-51DD-CCE8-289D-C2EC52D0E50A}"/>
              </a:ext>
            </a:extLst>
          </p:cNvPr>
          <p:cNvSpPr/>
          <p:nvPr/>
        </p:nvSpPr>
        <p:spPr>
          <a:xfrm>
            <a:off x="0" y="6129196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08466CE-5881-58E9-82C6-8ACFEF7EBC44}"/>
              </a:ext>
            </a:extLst>
          </p:cNvPr>
          <p:cNvSpPr/>
          <p:nvPr/>
        </p:nvSpPr>
        <p:spPr>
          <a:xfrm flipH="1">
            <a:off x="452582" y="0"/>
            <a:ext cx="120073" cy="1074543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5113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2CE883C3-1979-8CD1-C015-A653DE6BB4B9}"/>
              </a:ext>
            </a:extLst>
          </p:cNvPr>
          <p:cNvSpPr/>
          <p:nvPr/>
        </p:nvSpPr>
        <p:spPr>
          <a:xfrm>
            <a:off x="429887" y="4281045"/>
            <a:ext cx="10573393" cy="15898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E8592CF-4E22-9E79-D542-994AC1E7BC5E}"/>
              </a:ext>
            </a:extLst>
          </p:cNvPr>
          <p:cNvSpPr/>
          <p:nvPr/>
        </p:nvSpPr>
        <p:spPr>
          <a:xfrm>
            <a:off x="5974081" y="1474217"/>
            <a:ext cx="5029200" cy="265442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8484312-A65F-2A0E-4950-4AD529BEF5CE}"/>
              </a:ext>
            </a:extLst>
          </p:cNvPr>
          <p:cNvSpPr/>
          <p:nvPr/>
        </p:nvSpPr>
        <p:spPr>
          <a:xfrm>
            <a:off x="429888" y="1474217"/>
            <a:ext cx="5239392" cy="265442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Estructura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del Proyecto</a:t>
            </a:r>
          </a:p>
        </p:txBody>
      </p:sp>
      <p:sp>
        <p:nvSpPr>
          <p:cNvPr id="3" name="Big Number"/>
          <p:cNvSpPr/>
          <p:nvPr/>
        </p:nvSpPr>
        <p:spPr>
          <a:xfrm>
            <a:off x="9100000" y="430000"/>
            <a:ext cx="2421360" cy="9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6000" b="1">
                <a:solidFill>
                  <a:srgbClr val="E2E8F0"/>
                </a:solidFill>
                <a:latin typeface="Arial"/>
              </a:rPr>
              <a:t>01-07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02920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flujo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estratégico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ciencia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datos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spcBef>
                <a:spcPts val="1400"/>
              </a:spcBef>
              <a:defRPr sz="1500">
                <a:solidFill>
                  <a:srgbClr val="475569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• FASE 1: Carga del </a:t>
            </a: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ataset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uditoría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alidad</a:t>
            </a:r>
          </a:p>
          <a:p>
            <a:pPr>
              <a:spcBef>
                <a:spcPts val="1400"/>
              </a:spcBef>
              <a:defRPr sz="1500">
                <a:solidFill>
                  <a:srgbClr val="475569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• FASE 2: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Limpieza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atos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estión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utliers</a:t>
            </a:r>
            <a:endParaRPr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400"/>
              </a:spcBef>
              <a:defRPr sz="1500">
                <a:solidFill>
                  <a:srgbClr val="475569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• FASE 3: EDA (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Análisis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xploratorio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ultivariado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spcBef>
                <a:spcPts val="1400"/>
              </a:spcBef>
              <a:defRPr sz="1500">
                <a:solidFill>
                  <a:srgbClr val="475569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• FASE 4: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Selección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ariables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Construcción del Pipeline</a:t>
            </a:r>
            <a:endParaRPr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4634959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Fases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avanzadas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despliegue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spcBef>
                <a:spcPts val="1400"/>
              </a:spcBef>
              <a:defRPr sz="1500">
                <a:solidFill>
                  <a:srgbClr val="475569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• FASE 5: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Optimización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y Validación Cruzada (</a:t>
            </a:r>
            <a:r>
              <a:rPr lang="es-E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Optuna</a:t>
            </a: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400"/>
              </a:spcBef>
              <a:defRPr sz="1500">
                <a:solidFill>
                  <a:srgbClr val="475569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• FASE 6: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Evaluación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ontrol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verfitting</a:t>
            </a:r>
            <a:endParaRPr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400"/>
              </a:spcBef>
              <a:defRPr sz="1500">
                <a:solidFill>
                  <a:srgbClr val="475569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• FASE 7: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Exportación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del Modelo y </a:t>
            </a:r>
            <a:r>
              <a:rPr lang="es-E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Metadata</a:t>
            </a:r>
            <a:endParaRPr lang="es-E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A8E07860-EAE2-81BE-288E-76CE75C1840D}"/>
              </a:ext>
            </a:extLst>
          </p:cNvPr>
          <p:cNvSpPr txBox="1"/>
          <p:nvPr/>
        </p:nvSpPr>
        <p:spPr>
          <a:xfrm>
            <a:off x="640081" y="4454986"/>
            <a:ext cx="10059588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Fase final:</a:t>
            </a:r>
          </a:p>
          <a:p>
            <a:pPr>
              <a:spcBef>
                <a:spcPts val="1400"/>
              </a:spcBef>
              <a:defRPr sz="1500">
                <a:solidFill>
                  <a:srgbClr val="475569"/>
                </a:solidFill>
              </a:defRPr>
            </a:pP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Conclusiones</a:t>
            </a:r>
            <a:r>
              <a:rPr sz="15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sz="1500" dirty="0" err="1">
                <a:latin typeface="Calibri" panose="020F0502020204030204" pitchFamily="34" charset="0"/>
                <a:cs typeface="Calibri" panose="020F0502020204030204" pitchFamily="34" charset="0"/>
              </a:rPr>
              <a:t>inales</a:t>
            </a:r>
            <a:endParaRPr lang="es-E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400"/>
              </a:spcBef>
              <a:defRPr sz="1500">
                <a:solidFill>
                  <a:srgbClr val="475569"/>
                </a:solidFill>
              </a:defRPr>
            </a:pPr>
            <a:r>
              <a:rPr lang="es-ES" sz="1500" dirty="0">
                <a:latin typeface="Calibri" panose="020F0502020204030204" pitchFamily="34" charset="0"/>
                <a:cs typeface="Calibri" panose="020F0502020204030204" pitchFamily="34" charset="0"/>
              </a:rPr>
              <a:t>• Despliegue en </a:t>
            </a:r>
            <a:r>
              <a:rPr lang="es-ES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Streamlit</a:t>
            </a:r>
            <a:endParaRPr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49D95B3-9F70-EAAC-F533-67035530820D}"/>
              </a:ext>
            </a:extLst>
          </p:cNvPr>
          <p:cNvSpPr/>
          <p:nvPr/>
        </p:nvSpPr>
        <p:spPr>
          <a:xfrm>
            <a:off x="0" y="6129196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B6BE61F-C2D4-8B68-FDD6-829757EC57DB}"/>
              </a:ext>
            </a:extLst>
          </p:cNvPr>
          <p:cNvSpPr/>
          <p:nvPr/>
        </p:nvSpPr>
        <p:spPr>
          <a:xfrm flipH="1">
            <a:off x="452582" y="0"/>
            <a:ext cx="120073" cy="1074543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627499EF-A65B-57C8-6FD3-273F033AD3A9}"/>
              </a:ext>
            </a:extLst>
          </p:cNvPr>
          <p:cNvSpPr/>
          <p:nvPr/>
        </p:nvSpPr>
        <p:spPr>
          <a:xfrm>
            <a:off x="0" y="6129196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ACD582D-1E56-59A8-D41B-BA0CCC77C541}"/>
              </a:ext>
            </a:extLst>
          </p:cNvPr>
          <p:cNvSpPr/>
          <p:nvPr/>
        </p:nvSpPr>
        <p:spPr>
          <a:xfrm>
            <a:off x="1014504" y="1399832"/>
            <a:ext cx="9613521" cy="7686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EF31B5E-9D96-5232-9D39-B77F52739AD8}"/>
              </a:ext>
            </a:extLst>
          </p:cNvPr>
          <p:cNvSpPr/>
          <p:nvPr/>
        </p:nvSpPr>
        <p:spPr>
          <a:xfrm>
            <a:off x="1014504" y="4931943"/>
            <a:ext cx="9613521" cy="8949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3E5B158-D68C-3BB2-C203-D49FB11087FE}"/>
              </a:ext>
            </a:extLst>
          </p:cNvPr>
          <p:cNvSpPr/>
          <p:nvPr/>
        </p:nvSpPr>
        <p:spPr>
          <a:xfrm>
            <a:off x="1014504" y="2380471"/>
            <a:ext cx="9613521" cy="230906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00" name="Big Number"/>
          <p:cNvSpPr/>
          <p:nvPr/>
        </p:nvSpPr>
        <p:spPr>
          <a:xfrm>
            <a:off x="11269683" y="0"/>
            <a:ext cx="922316" cy="905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4000" b="1" dirty="0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0080" y="457201"/>
            <a:ext cx="10629603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1: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Carga del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y Auditoría de Calidad</a:t>
            </a:r>
          </a:p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endParaRPr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23054EF-E3FB-56CA-3D95-0C2952746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75" y="1585429"/>
            <a:ext cx="940117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 esta primera etapa se realizó la ingesta y auditoría inicial del conjunto de datos </a:t>
            </a:r>
            <a:r>
              <a:rPr kumimoji="0" lang="es-ES" altLang="es-ES" sz="13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"Global </a:t>
            </a:r>
            <a:r>
              <a:rPr kumimoji="0" lang="es-ES" altLang="es-ES" sz="13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Tourism</a:t>
            </a:r>
            <a:r>
              <a:rPr kumimoji="0" lang="es-ES" altLang="es-ES" sz="13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s-ES" altLang="es-ES" sz="13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Travel</a:t>
            </a:r>
            <a:r>
              <a:rPr kumimoji="0" lang="es-ES" altLang="es-ES" sz="13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s-ES" altLang="es-ES" sz="13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Trends</a:t>
            </a:r>
            <a:r>
              <a:rPr kumimoji="0" lang="es-ES" altLang="es-ES" sz="13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con el objetivo de evaluar su estructura, calidad y adecuación para el modelado predictivo.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92956C1-0234-70CD-CC94-ED2A83698372}"/>
              </a:ext>
            </a:extLst>
          </p:cNvPr>
          <p:cNvSpPr txBox="1"/>
          <p:nvPr/>
        </p:nvSpPr>
        <p:spPr>
          <a:xfrm>
            <a:off x="1216243" y="2517412"/>
            <a:ext cx="8828509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3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Principales acciones realizadas: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s-ES" altLang="es-ES" sz="1300" b="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s-ES" alt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Carga e inspección del </a:t>
            </a:r>
            <a:r>
              <a:rPr kumimoji="0" lang="es-ES" altLang="es-ES" sz="13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mediante </a:t>
            </a:r>
            <a:r>
              <a:rPr kumimoji="0" lang="es-ES" altLang="es-ES" sz="13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Pandas</a:t>
            </a: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kumimoji="0" lang="es-ES" altLang="es-ES" sz="1300" b="1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Revisión de muestras representativas (head) para validar la estructura de los registros.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Análisis de tipos de datos con </a:t>
            </a:r>
            <a:r>
              <a:rPr kumimoji="0" lang="es-ES" altLang="es-ES" sz="13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(), identificando </a:t>
            </a:r>
            <a:r>
              <a:rPr kumimoji="0" lang="es-ES" altLang="es-ES" sz="13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33 variables</a:t>
            </a: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entre numéricas y categóricas.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Detección de valores ausentes con </a:t>
            </a:r>
            <a:r>
              <a:rPr kumimoji="0" lang="es-ES" altLang="es-ES" sz="13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isnull</a:t>
            </a: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().sum(), localizando faltantes en variables relacionadas con: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300" b="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Barreras idiomáticas (</a:t>
            </a:r>
            <a:r>
              <a:rPr kumimoji="0" lang="es-ES" altLang="es-ES" sz="13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language_barrier</a:t>
            </a: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Interacciones en redes sociales (</a:t>
            </a:r>
            <a:r>
              <a:rPr kumimoji="0" lang="es-ES" altLang="es-ES" sz="13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social_media_shared</a:t>
            </a: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Cumplimiento de normas sanitarias (</a:t>
            </a:r>
            <a:r>
              <a:rPr kumimoji="0" lang="es-ES" altLang="es-ES" sz="13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health_safety_compliance</a:t>
            </a: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DB89276-875B-83BC-6B38-B9B54D2B7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75" y="5034341"/>
            <a:ext cx="9401176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300" b="1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Resultado: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kumimoji="0" lang="es-ES" altLang="es-ES" sz="13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kumimoji="0" lang="es-ES" altLang="es-ES" sz="13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quedó correctamente auditado, identificando los puntos críticos necesarios para iniciar las fases de limpieza, transformación y modelado con garantías de calidad.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A723D1D-5A8F-3DBB-C603-8C006A6BF6E2}"/>
              </a:ext>
            </a:extLst>
          </p:cNvPr>
          <p:cNvSpPr/>
          <p:nvPr/>
        </p:nvSpPr>
        <p:spPr>
          <a:xfrm flipH="1">
            <a:off x="452582" y="0"/>
            <a:ext cx="120073" cy="1074543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993D2EAC-EAD5-5824-C451-9716562A2F19}"/>
              </a:ext>
            </a:extLst>
          </p:cNvPr>
          <p:cNvSpPr/>
          <p:nvPr/>
        </p:nvSpPr>
        <p:spPr>
          <a:xfrm>
            <a:off x="0" y="6129196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C098D38-92C5-7465-B14F-8A86193E7388}"/>
              </a:ext>
            </a:extLst>
          </p:cNvPr>
          <p:cNvSpPr/>
          <p:nvPr/>
        </p:nvSpPr>
        <p:spPr>
          <a:xfrm>
            <a:off x="640079" y="1256175"/>
            <a:ext cx="7141846" cy="480967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2: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Limpieza de Datos y Gestión de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Outliers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1999" y="1380118"/>
            <a:ext cx="7019926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proceso de adecuación de la matriz analítica se ejecutó mediante un flujo estricto de cuatro etapas:  </a:t>
            </a:r>
          </a:p>
          <a:p>
            <a:pPr marL="285750" indent="-285750" algn="just">
              <a:spcBef>
                <a:spcPts val="1200"/>
              </a:spcBef>
              <a:buFont typeface="Wingdings" panose="05000000000000000000" pitchFamily="2" charset="2"/>
              <a:buChar char="§"/>
              <a:defRPr sz="1400">
                <a:solidFill>
                  <a:srgbClr val="475569"/>
                </a:solidFill>
              </a:defRPr>
            </a:pPr>
            <a:r>
              <a:rPr lang="es-ES" sz="13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Gestión de Nulos ($</a:t>
            </a:r>
            <a:r>
              <a:rPr lang="es-ES" sz="1300" b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NaN</a:t>
            </a:r>
            <a:r>
              <a:rPr lang="es-ES" sz="13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$)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Se detectaron ausencias de datos concentradas en 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language_barrier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social_media_shared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health_safety_compliance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Se aplicaron descartes controlados mediante 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df.dropna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y transformaciones selectivas para asegurar una matriz completamente poblada antes del modelado.  </a:t>
            </a:r>
          </a:p>
          <a:p>
            <a:pPr marL="285750" indent="-285750" algn="just">
              <a:spcBef>
                <a:spcPts val="1200"/>
              </a:spcBef>
              <a:buFont typeface="Wingdings" panose="05000000000000000000" pitchFamily="2" charset="2"/>
              <a:buChar char="§"/>
              <a:defRPr sz="1400">
                <a:solidFill>
                  <a:srgbClr val="475569"/>
                </a:solidFill>
              </a:defRPr>
            </a:pPr>
            <a:r>
              <a:rPr lang="es-ES" sz="13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Tratamiento Estadístico de </a:t>
            </a:r>
            <a:r>
              <a:rPr lang="es-ES" sz="1300" b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Outliers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Utilizando el método del Rango Intercuartílico ($IQR$), se identificaron y aislaron los valores atípicos en las variables financieras (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total_trip_spend_usd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budget_per_person_usd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restaurant_spend_per_day_usd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para evitar sesgos en las funciones de pérdida de los regresores.  </a:t>
            </a:r>
          </a:p>
          <a:p>
            <a:pPr marL="285750" indent="-285750" algn="just">
              <a:spcBef>
                <a:spcPts val="1200"/>
              </a:spcBef>
              <a:buFont typeface="Wingdings" panose="05000000000000000000" pitchFamily="2" charset="2"/>
              <a:buChar char="§"/>
              <a:defRPr sz="1400">
                <a:solidFill>
                  <a:srgbClr val="475569"/>
                </a:solidFill>
              </a:defRPr>
            </a:pPr>
            <a:r>
              <a:rPr lang="es-ES" sz="13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Normalización de Textos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Se implementó un bucle masivo automatizado aplicando .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str.strip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y .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str.capitalize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a todas las columnas de tipo cadena de texto para corregir espacios accidentales y homogeneizar los registros.  </a:t>
            </a:r>
          </a:p>
          <a:p>
            <a:pPr marL="285750" indent="-285750" algn="just">
              <a:spcBef>
                <a:spcPts val="1200"/>
              </a:spcBef>
              <a:buFont typeface="Wingdings" panose="05000000000000000000" pitchFamily="2" charset="2"/>
              <a:buChar char="§"/>
              <a:defRPr sz="1400">
                <a:solidFill>
                  <a:srgbClr val="475569"/>
                </a:solidFill>
              </a:defRPr>
            </a:pPr>
            <a:r>
              <a:rPr lang="es-ES" sz="13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Codificación y Transformación Ordinal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Las variables cualitativas de percepción a escala se transformaron formalmente a rangos numéricos interpretables mediante diccionarios de mapeo estructurados (escalas de 0 a 4 y 0 a 2) para variables como 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overall_satisfaction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safety_perception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would_recommend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health_safety_compliance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eco_friendly_choices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Asimismo, las variables categóricas nominales pasaron por un proceso de 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-Hot 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Encoding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pd.get_dummies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drop_first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=True)) para neutralizar la multicolinealidad. </a:t>
            </a:r>
            <a:endParaRPr sz="13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Big Number">
            <a:extLst>
              <a:ext uri="{FF2B5EF4-FFF2-40B4-BE49-F238E27FC236}">
                <a16:creationId xmlns:a16="http://schemas.microsoft.com/office/drawing/2014/main" id="{EEE348DC-0CF7-5F1A-383F-A12CC6E7B47F}"/>
              </a:ext>
            </a:extLst>
          </p:cNvPr>
          <p:cNvSpPr/>
          <p:nvPr/>
        </p:nvSpPr>
        <p:spPr>
          <a:xfrm>
            <a:off x="11269683" y="0"/>
            <a:ext cx="922316" cy="905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4000" b="1" dirty="0">
                <a:solidFill>
                  <a:srgbClr val="E2E8F0"/>
                </a:solidFill>
                <a:latin typeface="Arial"/>
              </a:rPr>
              <a:t>0</a:t>
            </a:r>
            <a:r>
              <a:rPr lang="es-ES" sz="4000" b="1" dirty="0">
                <a:solidFill>
                  <a:srgbClr val="E2E8F0"/>
                </a:solidFill>
                <a:latin typeface="Arial"/>
              </a:rPr>
              <a:t>2</a:t>
            </a:r>
            <a:endParaRPr sz="4000" b="1" dirty="0">
              <a:solidFill>
                <a:srgbClr val="E2E8F0"/>
              </a:solidFill>
              <a:latin typeface="Arial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5D218EF-769C-CCE7-63BD-2C25B8B65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775" y="1259931"/>
            <a:ext cx="3625066" cy="4805920"/>
          </a:xfrm>
          <a:prstGeom prst="rect">
            <a:avLst/>
          </a:prstGeom>
          <a:effectLst/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0A2776ED-DF72-1B5C-C413-E8593BD9C049}"/>
              </a:ext>
            </a:extLst>
          </p:cNvPr>
          <p:cNvSpPr/>
          <p:nvPr/>
        </p:nvSpPr>
        <p:spPr>
          <a:xfrm flipH="1">
            <a:off x="452582" y="0"/>
            <a:ext cx="120073" cy="1074543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1EEA5CD8-618B-D76F-B4E9-5A3410999129}"/>
              </a:ext>
            </a:extLst>
          </p:cNvPr>
          <p:cNvSpPr/>
          <p:nvPr/>
        </p:nvSpPr>
        <p:spPr>
          <a:xfrm>
            <a:off x="0" y="6129196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1429494-4AC3-29A6-5209-39FEEE2CC001}"/>
              </a:ext>
            </a:extLst>
          </p:cNvPr>
          <p:cNvSpPr/>
          <p:nvPr/>
        </p:nvSpPr>
        <p:spPr>
          <a:xfrm>
            <a:off x="295306" y="1256174"/>
            <a:ext cx="4861310" cy="46913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97433D2-987F-0207-6F26-961670CEFEA4}"/>
              </a:ext>
            </a:extLst>
          </p:cNvPr>
          <p:cNvSpPr/>
          <p:nvPr/>
        </p:nvSpPr>
        <p:spPr>
          <a:xfrm>
            <a:off x="5366480" y="1256174"/>
            <a:ext cx="6530214" cy="469139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487099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3: </a:t>
            </a:r>
            <a:r>
              <a:rPr sz="3000" dirty="0">
                <a:latin typeface="Calibri" panose="020F0502020204030204" pitchFamily="34" charset="0"/>
                <a:cs typeface="Calibri" panose="020F0502020204030204" pitchFamily="34" charset="0"/>
              </a:rPr>
              <a:t>EDA</a:t>
            </a:r>
            <a:r>
              <a:rPr lang="es-ES" sz="3000" dirty="0">
                <a:latin typeface="Calibri" panose="020F0502020204030204" pitchFamily="34" charset="0"/>
                <a:cs typeface="Calibri" panose="020F0502020204030204" pitchFamily="34" charset="0"/>
              </a:rPr>
              <a:t> (Análisis Exploratorio Multivariado)</a:t>
            </a:r>
            <a:endParaRPr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7496" y="1436057"/>
            <a:ext cx="46192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análisis estadístico multivariado arrojó las siguientes conclusiones críticas para el negocio:  </a:t>
            </a:r>
          </a:p>
          <a:p>
            <a:pPr marL="285750" indent="-285750" algn="just">
              <a:spcBef>
                <a:spcPts val="1400"/>
              </a:spcBef>
              <a:buFont typeface="Arial" panose="020B0604020202020204" pitchFamily="34" charset="0"/>
              <a:buChar char="•"/>
              <a:defRPr sz="1400">
                <a:solidFill>
                  <a:srgbClr val="475569"/>
                </a:solidFill>
              </a:defRPr>
            </a:pPr>
            <a:r>
              <a:rPr lang="es-ES" sz="13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Análisis de Forma de la Variable Objetivo: 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gasto total arrojó un sesgo positivo (cola hacia la derecha), lo que obligó a diseñar estrategias matemáticas específicas de estabilización para el algoritmo de Machine 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285750" indent="-285750" algn="just">
              <a:spcBef>
                <a:spcPts val="1400"/>
              </a:spcBef>
              <a:buFont typeface="Arial" panose="020B0604020202020204" pitchFamily="34" charset="0"/>
              <a:buChar char="•"/>
              <a:defRPr sz="1400">
                <a:solidFill>
                  <a:srgbClr val="475569"/>
                </a:solidFill>
              </a:defRPr>
            </a:pPr>
            <a:r>
              <a:rPr lang="es-ES" sz="13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Prueba de Hipótesis (T-Test de Welch): 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evaluó si el propósito del viaje determinaba diferencias significativas en el presupuesto ejecutado (Negocios vs. Placer). El resultado obtuvo un p-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significativamente inferior al umbral de confianza ($p &lt; 0.05$), confirmando de manera sólida que el propósito del viaje es un predictor de peso que el modelo debe explotar.  </a:t>
            </a:r>
          </a:p>
          <a:p>
            <a:pPr marL="285750" indent="-285750" algn="just">
              <a:spcBef>
                <a:spcPts val="1400"/>
              </a:spcBef>
              <a:buFont typeface="Arial" panose="020B0604020202020204" pitchFamily="34" charset="0"/>
              <a:buChar char="•"/>
              <a:defRPr sz="1400">
                <a:solidFill>
                  <a:srgbClr val="475569"/>
                </a:solidFill>
              </a:defRPr>
            </a:pPr>
            <a:r>
              <a:rPr lang="es-ES" sz="13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Estacionalidad e Impacto Ambiental: 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analizó el comportamiento de la huella de carbono (carbon_footprint_kg_co2) en relación con los tipos de alojamiento, demostrando una correlación directa entre las opciones de hospedaje premium y la elevación tanto del gasto total como del impacto ambiental en Kg de $CO_2$. </a:t>
            </a:r>
            <a:endParaRPr sz="13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Big Number">
            <a:extLst>
              <a:ext uri="{FF2B5EF4-FFF2-40B4-BE49-F238E27FC236}">
                <a16:creationId xmlns:a16="http://schemas.microsoft.com/office/drawing/2014/main" id="{7EBBFD2E-6695-CE7E-F3D2-D3789ECC7EEB}"/>
              </a:ext>
            </a:extLst>
          </p:cNvPr>
          <p:cNvSpPr/>
          <p:nvPr/>
        </p:nvSpPr>
        <p:spPr>
          <a:xfrm>
            <a:off x="11269683" y="0"/>
            <a:ext cx="922316" cy="905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4000" b="1" dirty="0">
                <a:solidFill>
                  <a:srgbClr val="E2E8F0"/>
                </a:solidFill>
                <a:latin typeface="Arial"/>
              </a:rPr>
              <a:t>0</a:t>
            </a:r>
            <a:r>
              <a:rPr lang="es-ES" sz="4000" b="1" dirty="0">
                <a:solidFill>
                  <a:srgbClr val="E2E8F0"/>
                </a:solidFill>
                <a:latin typeface="Arial"/>
              </a:rPr>
              <a:t>3</a:t>
            </a:r>
            <a:endParaRPr sz="4000" b="1" dirty="0">
              <a:solidFill>
                <a:srgbClr val="E2E8F0"/>
              </a:solidFill>
              <a:latin typeface="Arial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602B7C6-BE6A-C4A4-5DB3-E345AA743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5" y="1460986"/>
            <a:ext cx="5524938" cy="4369961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BBC7DD4E-A770-BAEB-E1D0-E01782D8C548}"/>
              </a:ext>
            </a:extLst>
          </p:cNvPr>
          <p:cNvSpPr/>
          <p:nvPr/>
        </p:nvSpPr>
        <p:spPr>
          <a:xfrm flipH="1">
            <a:off x="452582" y="0"/>
            <a:ext cx="120073" cy="1074543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BF7A95DF-91B0-AC66-7565-5D5E2DA364BF}"/>
              </a:ext>
            </a:extLst>
          </p:cNvPr>
          <p:cNvSpPr/>
          <p:nvPr/>
        </p:nvSpPr>
        <p:spPr>
          <a:xfrm>
            <a:off x="0" y="6129196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30F1475-49A0-F20B-32F3-55A1D6C71907}"/>
              </a:ext>
            </a:extLst>
          </p:cNvPr>
          <p:cNvSpPr/>
          <p:nvPr/>
        </p:nvSpPr>
        <p:spPr>
          <a:xfrm flipH="1">
            <a:off x="452582" y="0"/>
            <a:ext cx="120073" cy="1074543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Box 1"/>
          <p:cNvSpPr txBox="1"/>
          <p:nvPr/>
        </p:nvSpPr>
        <p:spPr>
          <a:xfrm>
            <a:off x="640079" y="457200"/>
            <a:ext cx="10767435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4: </a:t>
            </a:r>
            <a:r>
              <a:rPr lang="es-ES" sz="2800" dirty="0">
                <a:latin typeface="Calibri" panose="020F0502020204030204" pitchFamily="34" charset="0"/>
                <a:cs typeface="Calibri" panose="020F0502020204030204" pitchFamily="34" charset="0"/>
              </a:rPr>
              <a:t>Estrategia y Opciones de Estudio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Big Number">
            <a:extLst>
              <a:ext uri="{FF2B5EF4-FFF2-40B4-BE49-F238E27FC236}">
                <a16:creationId xmlns:a16="http://schemas.microsoft.com/office/drawing/2014/main" id="{67121DD6-495A-7ACB-C977-B88A486DA778}"/>
              </a:ext>
            </a:extLst>
          </p:cNvPr>
          <p:cNvSpPr/>
          <p:nvPr/>
        </p:nvSpPr>
        <p:spPr>
          <a:xfrm>
            <a:off x="11269683" y="0"/>
            <a:ext cx="922316" cy="905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4000" b="1" dirty="0">
                <a:solidFill>
                  <a:srgbClr val="E2E8F0"/>
                </a:solidFill>
                <a:latin typeface="Arial"/>
              </a:rPr>
              <a:t>0</a:t>
            </a:r>
            <a:r>
              <a:rPr lang="es-ES" sz="4000" b="1" dirty="0">
                <a:solidFill>
                  <a:srgbClr val="E2E8F0"/>
                </a:solidFill>
                <a:latin typeface="Arial"/>
              </a:rPr>
              <a:t>4</a:t>
            </a:r>
            <a:endParaRPr sz="4000" b="1" dirty="0">
              <a:solidFill>
                <a:srgbClr val="E2E8F0"/>
              </a:solidFill>
              <a:latin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D5FDDD-EB9E-8245-772D-F15D63D3A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68" y="1801209"/>
            <a:ext cx="5672427" cy="36332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36FC7B-8118-BC44-16A3-5E1AB1377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420" y="1801209"/>
            <a:ext cx="5682366" cy="36332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1553202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12E9DA36-D762-CC5C-56BB-7E6351C63DF9}"/>
              </a:ext>
            </a:extLst>
          </p:cNvPr>
          <p:cNvSpPr/>
          <p:nvPr/>
        </p:nvSpPr>
        <p:spPr>
          <a:xfrm>
            <a:off x="6023796" y="1896029"/>
            <a:ext cx="5810660" cy="34116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F7A95DF-91B0-AC66-7565-5D5E2DA364BF}"/>
              </a:ext>
            </a:extLst>
          </p:cNvPr>
          <p:cNvSpPr/>
          <p:nvPr/>
        </p:nvSpPr>
        <p:spPr>
          <a:xfrm>
            <a:off x="0" y="6129196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Box 1"/>
          <p:cNvSpPr txBox="1"/>
          <p:nvPr/>
        </p:nvSpPr>
        <p:spPr>
          <a:xfrm>
            <a:off x="640079" y="457200"/>
            <a:ext cx="10767435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4: </a:t>
            </a:r>
            <a:r>
              <a:rPr lang="es-ES" sz="2800" dirty="0">
                <a:latin typeface="Calibri" panose="020F0502020204030204" pitchFamily="34" charset="0"/>
                <a:cs typeface="Calibri" panose="020F0502020204030204" pitchFamily="34" charset="0"/>
              </a:rPr>
              <a:t>Auditoría y Estructura del Árbol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Big Number">
            <a:extLst>
              <a:ext uri="{FF2B5EF4-FFF2-40B4-BE49-F238E27FC236}">
                <a16:creationId xmlns:a16="http://schemas.microsoft.com/office/drawing/2014/main" id="{67121DD6-495A-7ACB-C977-B88A486DA778}"/>
              </a:ext>
            </a:extLst>
          </p:cNvPr>
          <p:cNvSpPr/>
          <p:nvPr/>
        </p:nvSpPr>
        <p:spPr>
          <a:xfrm>
            <a:off x="11269683" y="0"/>
            <a:ext cx="922316" cy="905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4000" b="1" dirty="0">
                <a:solidFill>
                  <a:srgbClr val="E2E8F0"/>
                </a:solidFill>
                <a:latin typeface="Arial"/>
              </a:rPr>
              <a:t>0</a:t>
            </a:r>
            <a:r>
              <a:rPr lang="es-ES" sz="4000" b="1" dirty="0">
                <a:solidFill>
                  <a:srgbClr val="E2E8F0"/>
                </a:solidFill>
                <a:latin typeface="Arial"/>
              </a:rPr>
              <a:t>4</a:t>
            </a:r>
            <a:endParaRPr sz="4000" b="1" dirty="0">
              <a:solidFill>
                <a:srgbClr val="E2E8F0"/>
              </a:solidFill>
              <a:latin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3012D5-5607-7DD2-DE69-1A6A95336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18" y="1896030"/>
            <a:ext cx="5349322" cy="34116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FE023EA-80C2-242E-8620-97ADBDC25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96055"/>
            <a:ext cx="5738456" cy="2990295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C4E32885-9CE6-0124-B49F-DB97E74E99EB}"/>
              </a:ext>
            </a:extLst>
          </p:cNvPr>
          <p:cNvSpPr/>
          <p:nvPr/>
        </p:nvSpPr>
        <p:spPr>
          <a:xfrm flipH="1">
            <a:off x="452582" y="0"/>
            <a:ext cx="120073" cy="1074543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2388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">
            <a:extLst>
              <a:ext uri="{FF2B5EF4-FFF2-40B4-BE49-F238E27FC236}">
                <a16:creationId xmlns:a16="http://schemas.microsoft.com/office/drawing/2014/main" id="{ED00F538-EB24-8F6F-8399-C68D3AD54FA4}"/>
              </a:ext>
            </a:extLst>
          </p:cNvPr>
          <p:cNvSpPr/>
          <p:nvPr/>
        </p:nvSpPr>
        <p:spPr>
          <a:xfrm>
            <a:off x="7205953" y="1571867"/>
            <a:ext cx="2059515" cy="230909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ounded Rectangle 2">
            <a:extLst>
              <a:ext uri="{FF2B5EF4-FFF2-40B4-BE49-F238E27FC236}">
                <a16:creationId xmlns:a16="http://schemas.microsoft.com/office/drawing/2014/main" id="{D2A2055D-C8CD-2C0E-F8A4-8A14DB085203}"/>
              </a:ext>
            </a:extLst>
          </p:cNvPr>
          <p:cNvSpPr/>
          <p:nvPr/>
        </p:nvSpPr>
        <p:spPr>
          <a:xfrm>
            <a:off x="4994038" y="1561182"/>
            <a:ext cx="2059515" cy="230909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ounded Rectangle 2">
            <a:extLst>
              <a:ext uri="{FF2B5EF4-FFF2-40B4-BE49-F238E27FC236}">
                <a16:creationId xmlns:a16="http://schemas.microsoft.com/office/drawing/2014/main" id="{DDB5110A-CF58-7277-3C82-6478AF9C8EFA}"/>
              </a:ext>
            </a:extLst>
          </p:cNvPr>
          <p:cNvSpPr/>
          <p:nvPr/>
        </p:nvSpPr>
        <p:spPr>
          <a:xfrm>
            <a:off x="2783205" y="1567163"/>
            <a:ext cx="2059515" cy="230909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ounded Rectangle 2">
            <a:extLst>
              <a:ext uri="{FF2B5EF4-FFF2-40B4-BE49-F238E27FC236}">
                <a16:creationId xmlns:a16="http://schemas.microsoft.com/office/drawing/2014/main" id="{1E857484-1C87-4D22-394E-30955FCE399E}"/>
              </a:ext>
            </a:extLst>
          </p:cNvPr>
          <p:cNvSpPr/>
          <p:nvPr/>
        </p:nvSpPr>
        <p:spPr>
          <a:xfrm>
            <a:off x="571290" y="1567163"/>
            <a:ext cx="2059515" cy="230909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ounded Rectangle 2">
            <a:extLst>
              <a:ext uri="{FF2B5EF4-FFF2-40B4-BE49-F238E27FC236}">
                <a16:creationId xmlns:a16="http://schemas.microsoft.com/office/drawing/2014/main" id="{D6ED14AA-AB21-66C2-F472-C8FAAD12E5D9}"/>
              </a:ext>
            </a:extLst>
          </p:cNvPr>
          <p:cNvSpPr/>
          <p:nvPr/>
        </p:nvSpPr>
        <p:spPr>
          <a:xfrm>
            <a:off x="4966998" y="4282737"/>
            <a:ext cx="6726237" cy="1546439"/>
          </a:xfrm>
          <a:prstGeom prst="roundRect">
            <a:avLst/>
          </a:prstGeom>
          <a:solidFill>
            <a:srgbClr val="FDFF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F7A95DF-91B0-AC66-7565-5D5E2DA364BF}"/>
              </a:ext>
            </a:extLst>
          </p:cNvPr>
          <p:cNvSpPr/>
          <p:nvPr/>
        </p:nvSpPr>
        <p:spPr>
          <a:xfrm>
            <a:off x="0" y="6129196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Box 1"/>
          <p:cNvSpPr txBox="1"/>
          <p:nvPr/>
        </p:nvSpPr>
        <p:spPr>
          <a:xfrm>
            <a:off x="640079" y="457200"/>
            <a:ext cx="10767435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4: </a:t>
            </a:r>
            <a:r>
              <a:rPr lang="es-ES" sz="2800" dirty="0">
                <a:latin typeface="Calibri" panose="020F0502020204030204" pitchFamily="34" charset="0"/>
                <a:cs typeface="Calibri" panose="020F0502020204030204" pitchFamily="34" charset="0"/>
              </a:rPr>
              <a:t>Ingeniería de Pipeline y Simulación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Big Number">
            <a:extLst>
              <a:ext uri="{FF2B5EF4-FFF2-40B4-BE49-F238E27FC236}">
                <a16:creationId xmlns:a16="http://schemas.microsoft.com/office/drawing/2014/main" id="{67121DD6-495A-7ACB-C977-B88A486DA778}"/>
              </a:ext>
            </a:extLst>
          </p:cNvPr>
          <p:cNvSpPr/>
          <p:nvPr/>
        </p:nvSpPr>
        <p:spPr>
          <a:xfrm>
            <a:off x="11269683" y="0"/>
            <a:ext cx="922316" cy="905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4000" b="1" dirty="0">
                <a:solidFill>
                  <a:srgbClr val="E2E8F0"/>
                </a:solidFill>
                <a:latin typeface="Arial"/>
              </a:rPr>
              <a:t>0</a:t>
            </a:r>
            <a:r>
              <a:rPr lang="es-ES" sz="4000" b="1" dirty="0">
                <a:solidFill>
                  <a:srgbClr val="E2E8F0"/>
                </a:solidFill>
                <a:latin typeface="Arial"/>
              </a:rPr>
              <a:t>4</a:t>
            </a:r>
            <a:endParaRPr sz="4000" b="1" dirty="0">
              <a:solidFill>
                <a:srgbClr val="E2E8F0"/>
              </a:solidFill>
              <a:latin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C7FABC9-216E-0E79-B93B-49DBD74E9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48" y="1687027"/>
            <a:ext cx="1743075" cy="20574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77335D1-52DB-CB01-E468-21C923C23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222" y="1797577"/>
            <a:ext cx="1704975" cy="1905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53F4174-56DA-41F2-BE12-2B0D567EF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4930" y="1724873"/>
            <a:ext cx="1771650" cy="195262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2F46460-351D-7323-1E2C-1A7BC397AA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8812" y="1797577"/>
            <a:ext cx="1886068" cy="176212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0E5F214-2562-AA0B-4DDC-040B79B7AE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0492" y="4384035"/>
            <a:ext cx="6359248" cy="1343841"/>
          </a:xfrm>
          <a:prstGeom prst="rect">
            <a:avLst/>
          </a:prstGeom>
        </p:spPr>
      </p:pic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578CAD9D-DE30-11DC-57AB-E7BCD475C969}"/>
              </a:ext>
            </a:extLst>
          </p:cNvPr>
          <p:cNvSpPr/>
          <p:nvPr/>
        </p:nvSpPr>
        <p:spPr>
          <a:xfrm>
            <a:off x="640080" y="4300392"/>
            <a:ext cx="4114800" cy="1546439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64CA8742-3AD1-1385-0E07-B0833C83BF8A}"/>
              </a:ext>
            </a:extLst>
          </p:cNvPr>
          <p:cNvSpPr txBox="1"/>
          <p:nvPr/>
        </p:nvSpPr>
        <p:spPr>
          <a:xfrm>
            <a:off x="914400" y="4476011"/>
            <a:ext cx="3566160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defRPr sz="6400" b="1">
                <a:solidFill>
                  <a:srgbClr val="FFFFFF"/>
                </a:solidFill>
              </a:defRPr>
            </a:pPr>
            <a:r>
              <a:rPr lang="es-ES" sz="4000" dirty="0">
                <a:latin typeface="Calibri" panose="020F0502020204030204" pitchFamily="34" charset="0"/>
                <a:cs typeface="Calibri" panose="020F0502020204030204" pitchFamily="34" charset="0"/>
              </a:rPr>
              <a:t>$9,708.66 </a:t>
            </a:r>
            <a:r>
              <a:rPr lang="es-ES" sz="3200" dirty="0">
                <a:latin typeface="Calibri" panose="020F0502020204030204" pitchFamily="34" charset="0"/>
                <a:cs typeface="Calibri" panose="020F0502020204030204" pitchFamily="34" charset="0"/>
              </a:rPr>
              <a:t>USD</a:t>
            </a:r>
            <a:endParaRPr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2000"/>
              </a:spcBef>
              <a:defRPr sz="1500">
                <a:solidFill>
                  <a:srgbClr val="F1F5F9"/>
                </a:solidFill>
              </a:defRPr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Predicción Gasto Estimado (USD)</a:t>
            </a: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6CB28F13-085F-0346-E8BF-1DF12F0BC2D0}"/>
              </a:ext>
            </a:extLst>
          </p:cNvPr>
          <p:cNvSpPr/>
          <p:nvPr/>
        </p:nvSpPr>
        <p:spPr>
          <a:xfrm>
            <a:off x="9408795" y="1571867"/>
            <a:ext cx="2211915" cy="230909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050" dirty="0">
                <a:solidFill>
                  <a:srgbClr val="0D9488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R² (Coeficiente de Determinación): 0.7827</a:t>
            </a:r>
          </a:p>
          <a:p>
            <a:r>
              <a:rPr lang="es-ES" sz="1050" b="1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r>
              <a:rPr lang="es-ES" sz="105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¡Muy bueno! El modelo logra explicar el 78.27% de la variabilidad del gasto total del viaje. Para un árbol de profundidad 3, es un poder predictivo alto.</a:t>
            </a:r>
            <a:endParaRPr sz="105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271EFE4-6087-E33A-DBC3-AB704131BF58}"/>
              </a:ext>
            </a:extLst>
          </p:cNvPr>
          <p:cNvSpPr/>
          <p:nvPr/>
        </p:nvSpPr>
        <p:spPr>
          <a:xfrm flipH="1">
            <a:off x="452582" y="0"/>
            <a:ext cx="120073" cy="1074543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1051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Rectángulo 902">
            <a:extLst>
              <a:ext uri="{FF2B5EF4-FFF2-40B4-BE49-F238E27FC236}">
                <a16:creationId xmlns:a16="http://schemas.microsoft.com/office/drawing/2014/main" id="{089131CE-BD51-7DB1-BBC3-39C1F2F4B02E}"/>
              </a:ext>
            </a:extLst>
          </p:cNvPr>
          <p:cNvSpPr/>
          <p:nvPr/>
        </p:nvSpPr>
        <p:spPr>
          <a:xfrm>
            <a:off x="0" y="6129196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97" name="Imagen 896">
            <a:extLst>
              <a:ext uri="{FF2B5EF4-FFF2-40B4-BE49-F238E27FC236}">
                <a16:creationId xmlns:a16="http://schemas.microsoft.com/office/drawing/2014/main" id="{CC1A5B7F-1B68-6517-5AAB-DCCF4D77F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638" y="1173124"/>
            <a:ext cx="10580462" cy="48574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457200"/>
            <a:ext cx="977458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5: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Optimización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con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Optuna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Big Number">
            <a:extLst>
              <a:ext uri="{FF2B5EF4-FFF2-40B4-BE49-F238E27FC236}">
                <a16:creationId xmlns:a16="http://schemas.microsoft.com/office/drawing/2014/main" id="{1AF1DABC-82E5-2949-7F3D-C7A82FAF9B52}"/>
              </a:ext>
            </a:extLst>
          </p:cNvPr>
          <p:cNvSpPr/>
          <p:nvPr/>
        </p:nvSpPr>
        <p:spPr>
          <a:xfrm>
            <a:off x="11269683" y="0"/>
            <a:ext cx="922316" cy="905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4000" b="1" dirty="0">
                <a:solidFill>
                  <a:srgbClr val="E2E8F0"/>
                </a:solidFill>
                <a:latin typeface="Arial"/>
              </a:rPr>
              <a:t>0</a:t>
            </a:r>
            <a:r>
              <a:rPr lang="es-ES" sz="4000" b="1" dirty="0">
                <a:solidFill>
                  <a:srgbClr val="E2E8F0"/>
                </a:solidFill>
                <a:latin typeface="Arial"/>
              </a:rPr>
              <a:t>5</a:t>
            </a:r>
            <a:endParaRPr sz="4000" b="1" dirty="0">
              <a:solidFill>
                <a:srgbClr val="E2E8F0"/>
              </a:solidFill>
              <a:latin typeface="Arial"/>
            </a:endParaRPr>
          </a:p>
        </p:txBody>
      </p:sp>
      <p:sp>
        <p:nvSpPr>
          <p:cNvPr id="905" name="Rectángulo 904">
            <a:extLst>
              <a:ext uri="{FF2B5EF4-FFF2-40B4-BE49-F238E27FC236}">
                <a16:creationId xmlns:a16="http://schemas.microsoft.com/office/drawing/2014/main" id="{580C359F-B785-5F79-5C82-AF80531BA22E}"/>
              </a:ext>
            </a:extLst>
          </p:cNvPr>
          <p:cNvSpPr/>
          <p:nvPr/>
        </p:nvSpPr>
        <p:spPr>
          <a:xfrm flipH="1">
            <a:off x="452582" y="0"/>
            <a:ext cx="120073" cy="1074543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102483C1-F818-04C8-A9F9-A707009DFC3B}"/>
              </a:ext>
            </a:extLst>
          </p:cNvPr>
          <p:cNvSpPr/>
          <p:nvPr/>
        </p:nvSpPr>
        <p:spPr>
          <a:xfrm>
            <a:off x="0" y="6129196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ounded Rectangle 4"/>
          <p:cNvSpPr/>
          <p:nvPr/>
        </p:nvSpPr>
        <p:spPr>
          <a:xfrm>
            <a:off x="5120640" y="1468398"/>
            <a:ext cx="6400800" cy="45666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12">
            <a:extLst>
              <a:ext uri="{FF2B5EF4-FFF2-40B4-BE49-F238E27FC236}">
                <a16:creationId xmlns:a16="http://schemas.microsoft.com/office/drawing/2014/main" id="{2AFDB583-DBCE-67FF-DFEB-8DF795B6AAB9}"/>
              </a:ext>
            </a:extLst>
          </p:cNvPr>
          <p:cNvGrpSpPr/>
          <p:nvPr/>
        </p:nvGrpSpPr>
        <p:grpSpPr>
          <a:xfrm>
            <a:off x="5278170" y="4831856"/>
            <a:ext cx="6147303" cy="883622"/>
            <a:chOff x="0" y="0"/>
            <a:chExt cx="18974206" cy="3639758"/>
          </a:xfrm>
        </p:grpSpPr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748C21DD-71C1-274D-5025-6A5653C7240F}"/>
                </a:ext>
              </a:extLst>
            </p:cNvPr>
            <p:cNvSpPr/>
            <p:nvPr/>
          </p:nvSpPr>
          <p:spPr>
            <a:xfrm>
              <a:off x="0" y="0"/>
              <a:ext cx="18974206" cy="3639758"/>
            </a:xfrm>
            <a:custGeom>
              <a:avLst/>
              <a:gdLst/>
              <a:ahLst/>
              <a:cxnLst/>
              <a:rect l="l" t="t" r="r" b="b"/>
              <a:pathLst>
                <a:path w="18974206" h="3639758">
                  <a:moveTo>
                    <a:pt x="0" y="568712"/>
                  </a:moveTo>
                  <a:cubicBezTo>
                    <a:pt x="0" y="254604"/>
                    <a:pt x="1415745" y="0"/>
                    <a:pt x="3162368" y="0"/>
                  </a:cubicBezTo>
                  <a:lnTo>
                    <a:pt x="15811838" y="0"/>
                  </a:lnTo>
                  <a:cubicBezTo>
                    <a:pt x="17558462" y="0"/>
                    <a:pt x="18974206" y="254604"/>
                    <a:pt x="18974206" y="568712"/>
                  </a:cubicBezTo>
                  <a:lnTo>
                    <a:pt x="18974206" y="3071046"/>
                  </a:lnTo>
                  <a:cubicBezTo>
                    <a:pt x="18974206" y="3385154"/>
                    <a:pt x="17558462" y="3639758"/>
                    <a:pt x="15811838" y="3639758"/>
                  </a:cubicBezTo>
                  <a:lnTo>
                    <a:pt x="3162368" y="3639758"/>
                  </a:lnTo>
                  <a:cubicBezTo>
                    <a:pt x="1415745" y="3639758"/>
                    <a:pt x="0" y="3385154"/>
                    <a:pt x="0" y="3071046"/>
                  </a:cubicBezTo>
                  <a:close/>
                </a:path>
              </a:pathLst>
            </a:custGeom>
            <a:solidFill>
              <a:srgbClr val="CEEAE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S" dirty="0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40080" y="45720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5: </a:t>
            </a:r>
            <a:r>
              <a:rPr lang="en-US" sz="3600" b="1" dirty="0" err="1">
                <a:solidFill>
                  <a:srgbClr val="0F172A"/>
                </a:solidFill>
                <a:latin typeface="Calibri" panose="020F0502020204030204" pitchFamily="34" charset="0"/>
                <a:ea typeface="Arial Bold"/>
                <a:cs typeface="Calibri" panose="020F0502020204030204" pitchFamily="34" charset="0"/>
                <a:sym typeface="Arial Bold"/>
              </a:rPr>
              <a:t>Resultados</a:t>
            </a:r>
            <a:r>
              <a:rPr lang="en-US" sz="3600" b="1" dirty="0">
                <a:solidFill>
                  <a:srgbClr val="0F172A"/>
                </a:solidFill>
                <a:latin typeface="Calibri" panose="020F0502020204030204" pitchFamily="34" charset="0"/>
                <a:ea typeface="Arial Bold"/>
                <a:cs typeface="Calibri" panose="020F0502020204030204" pitchFamily="34" charset="0"/>
                <a:sym typeface="Arial Bold"/>
              </a:rPr>
              <a:t> </a:t>
            </a:r>
            <a:r>
              <a:rPr lang="en-US" sz="3600" b="1" dirty="0" err="1">
                <a:solidFill>
                  <a:srgbClr val="0F172A"/>
                </a:solidFill>
                <a:latin typeface="Calibri" panose="020F0502020204030204" pitchFamily="34" charset="0"/>
                <a:ea typeface="Arial Bold"/>
                <a:cs typeface="Calibri" panose="020F0502020204030204" pitchFamily="34" charset="0"/>
                <a:sym typeface="Arial Bold"/>
              </a:rPr>
              <a:t>obtenidos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468398"/>
            <a:ext cx="4114800" cy="456664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2171045"/>
            <a:ext cx="3566160" cy="3011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/>
              <a:t>R²</a:t>
            </a:r>
          </a:p>
          <a:p>
            <a:pPr algn="ctr">
              <a:spcBef>
                <a:spcPts val="1000"/>
              </a:spcBef>
              <a:defRPr sz="6400" b="1">
                <a:solidFill>
                  <a:srgbClr val="FFFFFF"/>
                </a:solidFill>
              </a:defRPr>
            </a:pPr>
            <a:r>
              <a:rPr dirty="0"/>
              <a:t>98.</a:t>
            </a:r>
            <a:r>
              <a:rPr lang="es-ES" dirty="0"/>
              <a:t>96</a:t>
            </a:r>
            <a:r>
              <a:rPr dirty="0"/>
              <a:t>%</a:t>
            </a:r>
          </a:p>
          <a:p>
            <a:pPr algn="ctr">
              <a:spcBef>
                <a:spcPts val="2000"/>
              </a:spcBef>
              <a:defRPr sz="1500">
                <a:solidFill>
                  <a:srgbClr val="F1F5F9"/>
                </a:solidFill>
              </a:defRPr>
            </a:pPr>
            <a:r>
              <a:rPr lang="es-ES" dirty="0"/>
              <a:t>Capacidad Explicativa del Modelo</a:t>
            </a:r>
          </a:p>
          <a:p>
            <a:pPr algn="ctr">
              <a:spcBef>
                <a:spcPts val="2000"/>
              </a:spcBef>
              <a:defRPr sz="1500">
                <a:solidFill>
                  <a:srgbClr val="F1F5F9"/>
                </a:solidFill>
              </a:defRPr>
            </a:pPr>
            <a:r>
              <a:rPr lang="es-ES" dirty="0"/>
              <a:t>El modelo explica aproximadamente el 99% de la variabilidad observada en el Gasto </a:t>
            </a:r>
            <a:r>
              <a:rPr lang="es-ES" dirty="0" err="1"/>
              <a:t>Turistico</a:t>
            </a:r>
            <a:endParaRPr lang="es-ES" dirty="0"/>
          </a:p>
        </p:txBody>
      </p:sp>
      <p:sp>
        <p:nvSpPr>
          <p:cNvPr id="6" name="TextBox 5"/>
          <p:cNvSpPr txBox="1"/>
          <p:nvPr/>
        </p:nvSpPr>
        <p:spPr>
          <a:xfrm>
            <a:off x="5573313" y="1645920"/>
            <a:ext cx="5852160" cy="353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Rendimiento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y Control del Error</a:t>
            </a:r>
          </a:p>
          <a:p>
            <a:pPr>
              <a:spcBef>
                <a:spcPts val="1400"/>
              </a:spcBef>
              <a:defRPr sz="1500">
                <a:solidFill>
                  <a:srgbClr val="475569"/>
                </a:solidFill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El modelo captura el 98.96 % de las diferencias observadas entre viajeros</a:t>
            </a:r>
          </a:p>
          <a:p>
            <a:pPr>
              <a:spcBef>
                <a:spcPts val="1400"/>
              </a:spcBef>
              <a:defRPr sz="1500">
                <a:solidFill>
                  <a:srgbClr val="475569"/>
                </a:solidFill>
              </a:defRPr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• Resultados consistentes en las 5 particiones de validación</a:t>
            </a:r>
          </a:p>
          <a:p>
            <a:pPr>
              <a:spcBef>
                <a:spcPts val="1400"/>
              </a:spcBef>
              <a:defRPr sz="1500">
                <a:solidFill>
                  <a:srgbClr val="475569"/>
                </a:solidFill>
              </a:defRPr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Gradient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Boosting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optimizada mediante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Optuna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400"/>
              </a:spcBef>
              <a:defRPr sz="1500">
                <a:solidFill>
                  <a:srgbClr val="475569"/>
                </a:solidFill>
              </a:defRPr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• Baja variabilidad entre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folds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400"/>
              </a:spcBef>
              <a:defRPr sz="1500">
                <a:solidFill>
                  <a:srgbClr val="475569"/>
                </a:solidFill>
              </a:defRPr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• Buen equilibrio entre precisión y generalización</a:t>
            </a:r>
          </a:p>
          <a:p>
            <a:pPr>
              <a:spcBef>
                <a:spcPts val="1400"/>
              </a:spcBef>
              <a:defRPr sz="1500">
                <a:solidFill>
                  <a:srgbClr val="475569"/>
                </a:solidFill>
              </a:defRPr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• Bajo riesgo de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Overfitting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400"/>
              </a:spcBef>
              <a:defRPr sz="1500">
                <a:solidFill>
                  <a:srgbClr val="475569"/>
                </a:solidFill>
              </a:defRPr>
            </a:pPr>
            <a:endParaRPr dirty="0"/>
          </a:p>
        </p:txBody>
      </p:sp>
      <p:sp>
        <p:nvSpPr>
          <p:cNvPr id="7" name="Big Number">
            <a:extLst>
              <a:ext uri="{FF2B5EF4-FFF2-40B4-BE49-F238E27FC236}">
                <a16:creationId xmlns:a16="http://schemas.microsoft.com/office/drawing/2014/main" id="{A3F744C0-9F49-7721-736B-F5EC3C79252C}"/>
              </a:ext>
            </a:extLst>
          </p:cNvPr>
          <p:cNvSpPr/>
          <p:nvPr/>
        </p:nvSpPr>
        <p:spPr>
          <a:xfrm>
            <a:off x="11269683" y="0"/>
            <a:ext cx="922316" cy="905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4000" b="1" dirty="0">
                <a:solidFill>
                  <a:srgbClr val="E2E8F0"/>
                </a:solidFill>
                <a:latin typeface="Arial"/>
              </a:rPr>
              <a:t>0</a:t>
            </a:r>
            <a:r>
              <a:rPr lang="es-ES" sz="4000" b="1" dirty="0">
                <a:solidFill>
                  <a:srgbClr val="E2E8F0"/>
                </a:solidFill>
                <a:latin typeface="Arial"/>
              </a:rPr>
              <a:t>5</a:t>
            </a:r>
            <a:endParaRPr sz="4000" b="1" dirty="0">
              <a:solidFill>
                <a:srgbClr val="E2E8F0"/>
              </a:solidFill>
              <a:latin typeface="Arial"/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4B349772-A99F-C90D-FCA0-91ADE04D3F52}"/>
              </a:ext>
            </a:extLst>
          </p:cNvPr>
          <p:cNvSpPr/>
          <p:nvPr/>
        </p:nvSpPr>
        <p:spPr>
          <a:xfrm>
            <a:off x="5394960" y="4963914"/>
            <a:ext cx="5917853" cy="599441"/>
          </a:xfrm>
          <a:custGeom>
            <a:avLst/>
            <a:gdLst/>
            <a:ahLst/>
            <a:cxnLst/>
            <a:rect l="l" t="t" r="r" b="b"/>
            <a:pathLst>
              <a:path w="8132277" h="885920">
                <a:moveTo>
                  <a:pt x="0" y="0"/>
                </a:moveTo>
                <a:lnTo>
                  <a:pt x="8132277" y="0"/>
                </a:lnTo>
                <a:lnTo>
                  <a:pt x="8132277" y="885919"/>
                </a:lnTo>
                <a:lnTo>
                  <a:pt x="0" y="88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879" r="-22019" b="-1552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E5594EC-9FD1-B069-9F5E-AFB46604002C}"/>
              </a:ext>
            </a:extLst>
          </p:cNvPr>
          <p:cNvSpPr/>
          <p:nvPr/>
        </p:nvSpPr>
        <p:spPr>
          <a:xfrm flipH="1">
            <a:off x="452582" y="0"/>
            <a:ext cx="120073" cy="1074543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5: </a:t>
            </a:r>
            <a:r>
              <a:rPr lang="en-US" sz="3600" b="1" dirty="0" err="1">
                <a:solidFill>
                  <a:srgbClr val="0F172A"/>
                </a:solidFill>
                <a:latin typeface="Calibri" panose="020F0502020204030204" pitchFamily="34" charset="0"/>
                <a:ea typeface="Arial Bold"/>
                <a:cs typeface="Calibri" panose="020F0502020204030204" pitchFamily="34" charset="0"/>
                <a:sym typeface="Arial Bold"/>
              </a:rPr>
              <a:t>Resultados</a:t>
            </a:r>
            <a:r>
              <a:rPr lang="en-US" sz="3600" b="1" dirty="0">
                <a:solidFill>
                  <a:srgbClr val="0F172A"/>
                </a:solidFill>
                <a:latin typeface="Calibri" panose="020F0502020204030204" pitchFamily="34" charset="0"/>
                <a:ea typeface="Arial Bold"/>
                <a:cs typeface="Calibri" panose="020F0502020204030204" pitchFamily="34" charset="0"/>
                <a:sym typeface="Arial Bold"/>
              </a:rPr>
              <a:t> </a:t>
            </a:r>
            <a:r>
              <a:rPr lang="en-US" sz="3600" b="1" dirty="0" err="1">
                <a:solidFill>
                  <a:srgbClr val="0F172A"/>
                </a:solidFill>
                <a:latin typeface="Calibri" panose="020F0502020204030204" pitchFamily="34" charset="0"/>
                <a:ea typeface="Arial Bold"/>
                <a:cs typeface="Calibri" panose="020F0502020204030204" pitchFamily="34" charset="0"/>
                <a:sym typeface="Arial Bold"/>
              </a:rPr>
              <a:t>obtenidos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Big Number">
            <a:extLst>
              <a:ext uri="{FF2B5EF4-FFF2-40B4-BE49-F238E27FC236}">
                <a16:creationId xmlns:a16="http://schemas.microsoft.com/office/drawing/2014/main" id="{A3F744C0-9F49-7721-736B-F5EC3C79252C}"/>
              </a:ext>
            </a:extLst>
          </p:cNvPr>
          <p:cNvSpPr/>
          <p:nvPr/>
        </p:nvSpPr>
        <p:spPr>
          <a:xfrm>
            <a:off x="11269683" y="0"/>
            <a:ext cx="922316" cy="905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4000" b="1" dirty="0">
                <a:solidFill>
                  <a:srgbClr val="E2E8F0"/>
                </a:solidFill>
                <a:latin typeface="Arial"/>
              </a:rPr>
              <a:t>0</a:t>
            </a:r>
            <a:r>
              <a:rPr lang="es-ES" sz="4000" b="1" dirty="0">
                <a:solidFill>
                  <a:srgbClr val="E2E8F0"/>
                </a:solidFill>
                <a:latin typeface="Arial"/>
              </a:rPr>
              <a:t>5</a:t>
            </a:r>
            <a:endParaRPr sz="4000" b="1" dirty="0">
              <a:solidFill>
                <a:srgbClr val="E2E8F0"/>
              </a:solidFill>
              <a:latin typeface="Arial"/>
            </a:endParaRPr>
          </a:p>
        </p:txBody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F2240BA8-596F-3B6F-0B8B-2F578659FE2E}"/>
              </a:ext>
            </a:extLst>
          </p:cNvPr>
          <p:cNvSpPr/>
          <p:nvPr/>
        </p:nvSpPr>
        <p:spPr>
          <a:xfrm>
            <a:off x="616319" y="1571180"/>
            <a:ext cx="6140966" cy="3891837"/>
          </a:xfrm>
          <a:custGeom>
            <a:avLst/>
            <a:gdLst/>
            <a:ahLst/>
            <a:cxnLst/>
            <a:rect l="l" t="t" r="r" b="b"/>
            <a:pathLst>
              <a:path w="11042413" h="6998129">
                <a:moveTo>
                  <a:pt x="0" y="0"/>
                </a:moveTo>
                <a:lnTo>
                  <a:pt x="11042413" y="0"/>
                </a:lnTo>
                <a:lnTo>
                  <a:pt x="11042413" y="6998129"/>
                </a:lnTo>
                <a:lnTo>
                  <a:pt x="0" y="69981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solidFill>
              <a:srgbClr val="E2E8F0"/>
            </a:solidFill>
          </a:ln>
          <a:effectLst/>
        </p:spPr>
        <p:txBody>
          <a:bodyPr/>
          <a:lstStyle/>
          <a:p>
            <a:endParaRPr lang="es-ES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1AC3EAD6-FC1E-FDDF-CF8C-AD39DFB36F39}"/>
              </a:ext>
            </a:extLst>
          </p:cNvPr>
          <p:cNvGrpSpPr/>
          <p:nvPr/>
        </p:nvGrpSpPr>
        <p:grpSpPr>
          <a:xfrm>
            <a:off x="7096019" y="1609944"/>
            <a:ext cx="4479662" cy="1400622"/>
            <a:chOff x="0" y="0"/>
            <a:chExt cx="12879345" cy="7160941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974A22A-7ABE-4721-5D9B-E9815A3349C7}"/>
                </a:ext>
              </a:extLst>
            </p:cNvPr>
            <p:cNvSpPr/>
            <p:nvPr/>
          </p:nvSpPr>
          <p:spPr>
            <a:xfrm>
              <a:off x="0" y="0"/>
              <a:ext cx="12879346" cy="7160940"/>
            </a:xfrm>
            <a:custGeom>
              <a:avLst/>
              <a:gdLst/>
              <a:ahLst/>
              <a:cxnLst/>
              <a:rect l="l" t="t" r="r" b="b"/>
              <a:pathLst>
                <a:path w="12879346" h="7160940">
                  <a:moveTo>
                    <a:pt x="0" y="1193559"/>
                  </a:moveTo>
                  <a:cubicBezTo>
                    <a:pt x="0" y="534385"/>
                    <a:pt x="795806" y="0"/>
                    <a:pt x="1777448" y="0"/>
                  </a:cubicBezTo>
                  <a:lnTo>
                    <a:pt x="11101897" y="0"/>
                  </a:lnTo>
                  <a:cubicBezTo>
                    <a:pt x="12083539" y="0"/>
                    <a:pt x="12879346" y="534385"/>
                    <a:pt x="12879346" y="1193559"/>
                  </a:cubicBezTo>
                  <a:lnTo>
                    <a:pt x="12879346" y="5967381"/>
                  </a:lnTo>
                  <a:cubicBezTo>
                    <a:pt x="12879346" y="6626555"/>
                    <a:pt x="12083540" y="7160940"/>
                    <a:pt x="11101898" y="7160940"/>
                  </a:cubicBezTo>
                  <a:lnTo>
                    <a:pt x="1777448" y="7160940"/>
                  </a:lnTo>
                  <a:cubicBezTo>
                    <a:pt x="795806" y="7160940"/>
                    <a:pt x="0" y="6626555"/>
                    <a:pt x="0" y="596738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4" name="TextBox 6">
            <a:extLst>
              <a:ext uri="{FF2B5EF4-FFF2-40B4-BE49-F238E27FC236}">
                <a16:creationId xmlns:a16="http://schemas.microsoft.com/office/drawing/2014/main" id="{12CB66C9-BAE0-837C-489E-ADF38BD2FF92}"/>
              </a:ext>
            </a:extLst>
          </p:cNvPr>
          <p:cNvSpPr txBox="1"/>
          <p:nvPr/>
        </p:nvSpPr>
        <p:spPr>
          <a:xfrm>
            <a:off x="7766266" y="1715249"/>
            <a:ext cx="3964575" cy="1111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20"/>
              </a:lnSpc>
            </a:pPr>
            <a:r>
              <a:rPr lang="en-US" sz="2400" b="1" dirty="0" err="1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Ejemplo</a:t>
            </a:r>
            <a:r>
              <a:rPr lang="en-US" sz="2400" b="1" dirty="0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 de la </a:t>
            </a:r>
            <a:r>
              <a:rPr lang="en-US" sz="2400" b="1" dirty="0" err="1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Predicción</a:t>
            </a:r>
            <a:r>
              <a:rPr lang="en-US" sz="2400" b="1" dirty="0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 : </a:t>
            </a:r>
          </a:p>
          <a:p>
            <a:pPr>
              <a:lnSpc>
                <a:spcPts val="4620"/>
              </a:lnSpc>
            </a:pPr>
            <a:r>
              <a:rPr lang="en-US" sz="2400" b="1" dirty="0" err="1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Viaje</a:t>
            </a:r>
            <a:r>
              <a:rPr lang="en-US" sz="2400" b="1" dirty="0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 </a:t>
            </a:r>
            <a:r>
              <a:rPr lang="en-US" sz="2400" b="1" dirty="0" err="1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en</a:t>
            </a:r>
            <a:r>
              <a:rPr lang="en-US" sz="2400" b="1" dirty="0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 familia a Francia</a:t>
            </a:r>
            <a:endParaRPr lang="en-US" sz="3300" b="1" dirty="0">
              <a:solidFill>
                <a:srgbClr val="0F172A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15" name="Group 7">
            <a:extLst>
              <a:ext uri="{FF2B5EF4-FFF2-40B4-BE49-F238E27FC236}">
                <a16:creationId xmlns:a16="http://schemas.microsoft.com/office/drawing/2014/main" id="{E7DF89C1-C486-D304-5431-C9A32F0277A6}"/>
              </a:ext>
            </a:extLst>
          </p:cNvPr>
          <p:cNvGrpSpPr/>
          <p:nvPr/>
        </p:nvGrpSpPr>
        <p:grpSpPr>
          <a:xfrm>
            <a:off x="7041778" y="3115872"/>
            <a:ext cx="4510142" cy="2347145"/>
            <a:chOff x="0" y="0"/>
            <a:chExt cx="7700011" cy="4302852"/>
          </a:xfrm>
        </p:grpSpPr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E06EA6CC-A831-666B-7007-78C638BCDE38}"/>
                </a:ext>
              </a:extLst>
            </p:cNvPr>
            <p:cNvSpPr/>
            <p:nvPr/>
          </p:nvSpPr>
          <p:spPr>
            <a:xfrm>
              <a:off x="0" y="0"/>
              <a:ext cx="7700011" cy="4302852"/>
            </a:xfrm>
            <a:custGeom>
              <a:avLst/>
              <a:gdLst/>
              <a:ahLst/>
              <a:cxnLst/>
              <a:rect l="l" t="t" r="r" b="b"/>
              <a:pathLst>
                <a:path w="7700011" h="4302852">
                  <a:moveTo>
                    <a:pt x="0" y="717142"/>
                  </a:moveTo>
                  <a:cubicBezTo>
                    <a:pt x="0" y="321220"/>
                    <a:pt x="119756" y="0"/>
                    <a:pt x="267361" y="0"/>
                  </a:cubicBezTo>
                  <a:lnTo>
                    <a:pt x="7432649" y="0"/>
                  </a:lnTo>
                  <a:cubicBezTo>
                    <a:pt x="7580367" y="0"/>
                    <a:pt x="7700011" y="321220"/>
                    <a:pt x="7700011" y="717142"/>
                  </a:cubicBezTo>
                  <a:lnTo>
                    <a:pt x="7700011" y="3585710"/>
                  </a:lnTo>
                  <a:cubicBezTo>
                    <a:pt x="7700011" y="3981931"/>
                    <a:pt x="7580256" y="4302852"/>
                    <a:pt x="7432649" y="4302852"/>
                  </a:cubicBezTo>
                  <a:lnTo>
                    <a:pt x="267361" y="4302852"/>
                  </a:lnTo>
                  <a:cubicBezTo>
                    <a:pt x="119644" y="4302852"/>
                    <a:pt x="0" y="3981632"/>
                    <a:pt x="0" y="3585710"/>
                  </a:cubicBezTo>
                  <a:close/>
                </a:path>
              </a:pathLst>
            </a:custGeom>
            <a:solidFill>
              <a:srgbClr val="CEEAE7"/>
            </a:solidFill>
          </p:spPr>
          <p:txBody>
            <a:bodyPr/>
            <a:lstStyle/>
            <a:p>
              <a:endParaRPr lang="es-ES" dirty="0"/>
            </a:p>
          </p:txBody>
        </p:sp>
      </p:grpSp>
      <p:sp>
        <p:nvSpPr>
          <p:cNvPr id="17" name="TextBox 9">
            <a:extLst>
              <a:ext uri="{FF2B5EF4-FFF2-40B4-BE49-F238E27FC236}">
                <a16:creationId xmlns:a16="http://schemas.microsoft.com/office/drawing/2014/main" id="{19A46D88-FAEC-5152-BAE1-CD528E2D736E}"/>
              </a:ext>
            </a:extLst>
          </p:cNvPr>
          <p:cNvSpPr txBox="1"/>
          <p:nvPr/>
        </p:nvSpPr>
        <p:spPr>
          <a:xfrm>
            <a:off x="7191375" y="3239403"/>
            <a:ext cx="4130293" cy="1936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1900" b="1" dirty="0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El </a:t>
            </a:r>
            <a:r>
              <a:rPr lang="en-US" sz="1900" b="1" dirty="0" err="1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modelo</a:t>
            </a:r>
            <a:r>
              <a:rPr lang="en-US" sz="1900" b="1" dirty="0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 </a:t>
            </a:r>
            <a:r>
              <a:rPr lang="en-US" sz="1900" b="1" dirty="0" err="1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predice</a:t>
            </a:r>
            <a:r>
              <a:rPr lang="en-US" sz="1900" b="1" dirty="0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:</a:t>
            </a:r>
          </a:p>
          <a:p>
            <a:pPr marL="431817" lvl="1" indent="-215908" algn="l">
              <a:lnSpc>
                <a:spcPts val="2800"/>
              </a:lnSpc>
              <a:buFont typeface="Arial"/>
              <a:buChar char="•"/>
            </a:pPr>
            <a:r>
              <a:rPr lang="en-US" sz="1900" b="1" dirty="0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&gt; </a:t>
            </a:r>
            <a:r>
              <a:rPr lang="en-US" sz="1900" b="1" dirty="0" err="1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Presupuesto</a:t>
            </a:r>
            <a:r>
              <a:rPr lang="en-US" sz="1900" b="1" dirty="0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 y &gt; </a:t>
            </a:r>
            <a:r>
              <a:rPr lang="en-US" sz="1900" b="1" dirty="0" err="1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número</a:t>
            </a:r>
            <a:r>
              <a:rPr lang="en-US" sz="1900" b="1" dirty="0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 de </a:t>
            </a:r>
            <a:r>
              <a:rPr lang="en-US" sz="1900" b="1" dirty="0" err="1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noches</a:t>
            </a:r>
            <a:endParaRPr lang="en-US" sz="1900" b="1" dirty="0">
              <a:solidFill>
                <a:srgbClr val="0F172A"/>
              </a:solidFill>
              <a:latin typeface="Calibri" panose="020F0502020204030204" pitchFamily="34" charset="0"/>
              <a:ea typeface="Canva Sans Bold"/>
              <a:cs typeface="Calibri" panose="020F0502020204030204" pitchFamily="34" charset="0"/>
              <a:sym typeface="Canva Sans Bold"/>
            </a:endParaRPr>
          </a:p>
          <a:p>
            <a:pPr marL="431817" lvl="1" indent="-215908" algn="l">
              <a:lnSpc>
                <a:spcPts val="2800"/>
              </a:lnSpc>
              <a:buFont typeface="Arial"/>
              <a:buChar char="•"/>
            </a:pPr>
            <a:r>
              <a:rPr lang="en-US" sz="1900" b="1" dirty="0" err="1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Gasto</a:t>
            </a:r>
            <a:r>
              <a:rPr lang="en-US" sz="1900" b="1" dirty="0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 total </a:t>
            </a:r>
            <a:r>
              <a:rPr lang="en-US" sz="1900" b="1" dirty="0" err="1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aumenta</a:t>
            </a:r>
            <a:endParaRPr lang="en-US" sz="1900" b="1" dirty="0">
              <a:solidFill>
                <a:srgbClr val="0F172A"/>
              </a:solidFill>
              <a:latin typeface="Calibri" panose="020F0502020204030204" pitchFamily="34" charset="0"/>
              <a:ea typeface="Canva Sans Bold"/>
              <a:cs typeface="Calibri" panose="020F0502020204030204" pitchFamily="34" charset="0"/>
              <a:sym typeface="Canva Sans Bold"/>
            </a:endParaRPr>
          </a:p>
          <a:p>
            <a:pPr marL="431817" lvl="1" indent="-215908" algn="l">
              <a:lnSpc>
                <a:spcPts val="2800"/>
              </a:lnSpc>
              <a:buFont typeface="Arial"/>
              <a:buChar char="•"/>
            </a:pPr>
            <a:r>
              <a:rPr lang="en-US" sz="1900" b="1" dirty="0" err="1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Presencia</a:t>
            </a:r>
            <a:r>
              <a:rPr lang="en-US" sz="1900" b="1" dirty="0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 de Outliers con </a:t>
            </a:r>
            <a:r>
              <a:rPr lang="en-US" sz="1900" b="1" dirty="0" err="1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gasto</a:t>
            </a:r>
            <a:r>
              <a:rPr lang="en-US" sz="1900" b="1" dirty="0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 total </a:t>
            </a:r>
            <a:r>
              <a:rPr lang="en-US" sz="1900" b="1" dirty="0" err="1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muy</a:t>
            </a:r>
            <a:r>
              <a:rPr lang="en-US" sz="1900" b="1" dirty="0">
                <a:solidFill>
                  <a:srgbClr val="0F172A"/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 alto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AA30F2E-057E-B951-4B7D-8C38E0319FC2}"/>
              </a:ext>
            </a:extLst>
          </p:cNvPr>
          <p:cNvSpPr/>
          <p:nvPr/>
        </p:nvSpPr>
        <p:spPr>
          <a:xfrm flipH="1">
            <a:off x="452582" y="0"/>
            <a:ext cx="120073" cy="1074543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E418BA2-170E-362C-6623-1CCEA73F2C78}"/>
              </a:ext>
            </a:extLst>
          </p:cNvPr>
          <p:cNvSpPr/>
          <p:nvPr/>
        </p:nvSpPr>
        <p:spPr>
          <a:xfrm>
            <a:off x="0" y="6129196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622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ángulo 48">
            <a:extLst>
              <a:ext uri="{FF2B5EF4-FFF2-40B4-BE49-F238E27FC236}">
                <a16:creationId xmlns:a16="http://schemas.microsoft.com/office/drawing/2014/main" id="{7897477B-67D6-FD4B-0738-14CA9F425837}"/>
              </a:ext>
            </a:extLst>
          </p:cNvPr>
          <p:cNvSpPr/>
          <p:nvPr/>
        </p:nvSpPr>
        <p:spPr>
          <a:xfrm>
            <a:off x="0" y="6129196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8813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6: </a:t>
            </a:r>
            <a:r>
              <a:rPr lang="en-US" sz="3600" b="1" dirty="0">
                <a:solidFill>
                  <a:srgbClr val="0F172A"/>
                </a:solidFill>
                <a:latin typeface="Calibri" panose="020F0502020204030204" pitchFamily="34" charset="0"/>
                <a:ea typeface="Arial Bold"/>
                <a:cs typeface="Calibri" panose="020F0502020204030204" pitchFamily="34" charset="0"/>
                <a:sym typeface="Arial Bold"/>
              </a:rPr>
              <a:t>Overfitting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Big Number">
            <a:extLst>
              <a:ext uri="{FF2B5EF4-FFF2-40B4-BE49-F238E27FC236}">
                <a16:creationId xmlns:a16="http://schemas.microsoft.com/office/drawing/2014/main" id="{E4833E15-A7BA-62F6-B4F2-5F9DDB6671A3}"/>
              </a:ext>
            </a:extLst>
          </p:cNvPr>
          <p:cNvSpPr/>
          <p:nvPr/>
        </p:nvSpPr>
        <p:spPr>
          <a:xfrm>
            <a:off x="11269683" y="0"/>
            <a:ext cx="922316" cy="905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4000" b="1" dirty="0">
                <a:solidFill>
                  <a:srgbClr val="E2E8F0"/>
                </a:solidFill>
                <a:latin typeface="Arial"/>
              </a:rPr>
              <a:t>0</a:t>
            </a:r>
            <a:r>
              <a:rPr lang="es-ES" sz="4000" b="1" dirty="0">
                <a:solidFill>
                  <a:srgbClr val="E2E8F0"/>
                </a:solidFill>
                <a:latin typeface="Arial"/>
              </a:rPr>
              <a:t>6</a:t>
            </a:r>
            <a:endParaRPr sz="4000" b="1" dirty="0">
              <a:solidFill>
                <a:srgbClr val="E2E8F0"/>
              </a:solidFill>
              <a:latin typeface="Arial"/>
            </a:endParaRPr>
          </a:p>
        </p:txBody>
      </p:sp>
      <p:grpSp>
        <p:nvGrpSpPr>
          <p:cNvPr id="34" name="Group 6">
            <a:extLst>
              <a:ext uri="{FF2B5EF4-FFF2-40B4-BE49-F238E27FC236}">
                <a16:creationId xmlns:a16="http://schemas.microsoft.com/office/drawing/2014/main" id="{427FB94C-FBBB-9F72-9D69-3D01FE4BAFA2}"/>
              </a:ext>
            </a:extLst>
          </p:cNvPr>
          <p:cNvGrpSpPr/>
          <p:nvPr/>
        </p:nvGrpSpPr>
        <p:grpSpPr>
          <a:xfrm>
            <a:off x="640080" y="1236859"/>
            <a:ext cx="5277187" cy="4195479"/>
            <a:chOff x="0" y="0"/>
            <a:chExt cx="11249526" cy="8803640"/>
          </a:xfrm>
        </p:grpSpPr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191A99AA-28D1-820D-637B-2DC35FE56B14}"/>
                </a:ext>
              </a:extLst>
            </p:cNvPr>
            <p:cNvSpPr/>
            <p:nvPr/>
          </p:nvSpPr>
          <p:spPr>
            <a:xfrm>
              <a:off x="0" y="0"/>
              <a:ext cx="11249527" cy="8803639"/>
            </a:xfrm>
            <a:custGeom>
              <a:avLst/>
              <a:gdLst/>
              <a:ahLst/>
              <a:cxnLst/>
              <a:rect l="l" t="t" r="r" b="b"/>
              <a:pathLst>
                <a:path w="11249527" h="8803639">
                  <a:moveTo>
                    <a:pt x="0" y="1467358"/>
                  </a:moveTo>
                  <a:cubicBezTo>
                    <a:pt x="0" y="656971"/>
                    <a:pt x="576176" y="0"/>
                    <a:pt x="1286901" y="0"/>
                  </a:cubicBezTo>
                  <a:lnTo>
                    <a:pt x="9962625" y="0"/>
                  </a:lnTo>
                  <a:cubicBezTo>
                    <a:pt x="10673350" y="0"/>
                    <a:pt x="11249527" y="656971"/>
                    <a:pt x="11249527" y="1467358"/>
                  </a:cubicBezTo>
                  <a:lnTo>
                    <a:pt x="11249527" y="7336282"/>
                  </a:lnTo>
                  <a:cubicBezTo>
                    <a:pt x="11249527" y="8146669"/>
                    <a:pt x="10673350" y="8803639"/>
                    <a:pt x="9962625" y="8803639"/>
                  </a:cubicBezTo>
                  <a:lnTo>
                    <a:pt x="1286901" y="8803639"/>
                  </a:lnTo>
                  <a:cubicBezTo>
                    <a:pt x="576176" y="8803640"/>
                    <a:pt x="0" y="8146669"/>
                    <a:pt x="0" y="733628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36" name="Freeform 8">
            <a:extLst>
              <a:ext uri="{FF2B5EF4-FFF2-40B4-BE49-F238E27FC236}">
                <a16:creationId xmlns:a16="http://schemas.microsoft.com/office/drawing/2014/main" id="{DE2C5DD3-EA03-0F22-2B50-AFB2178416F7}"/>
              </a:ext>
            </a:extLst>
          </p:cNvPr>
          <p:cNvSpPr/>
          <p:nvPr/>
        </p:nvSpPr>
        <p:spPr>
          <a:xfrm>
            <a:off x="953871" y="1468398"/>
            <a:ext cx="4649602" cy="3685590"/>
          </a:xfrm>
          <a:custGeom>
            <a:avLst/>
            <a:gdLst/>
            <a:ahLst/>
            <a:cxnLst/>
            <a:rect l="l" t="t" r="r" b="b"/>
            <a:pathLst>
              <a:path w="7821825" h="6061914">
                <a:moveTo>
                  <a:pt x="0" y="0"/>
                </a:moveTo>
                <a:lnTo>
                  <a:pt x="7821825" y="0"/>
                </a:lnTo>
                <a:lnTo>
                  <a:pt x="7821825" y="6061915"/>
                </a:lnTo>
                <a:lnTo>
                  <a:pt x="0" y="60619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9" name="Group 9">
            <a:extLst>
              <a:ext uri="{FF2B5EF4-FFF2-40B4-BE49-F238E27FC236}">
                <a16:creationId xmlns:a16="http://schemas.microsoft.com/office/drawing/2014/main" id="{0E2A0E59-DEC2-530A-433A-C72281835AA4}"/>
              </a:ext>
            </a:extLst>
          </p:cNvPr>
          <p:cNvGrpSpPr/>
          <p:nvPr/>
        </p:nvGrpSpPr>
        <p:grpSpPr>
          <a:xfrm>
            <a:off x="6110476" y="1115701"/>
            <a:ext cx="5356101" cy="4316638"/>
            <a:chOff x="0" y="0"/>
            <a:chExt cx="10741526" cy="8803640"/>
          </a:xfrm>
        </p:grpSpPr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87120618-0BBF-C294-53F7-573ED3B1296F}"/>
                </a:ext>
              </a:extLst>
            </p:cNvPr>
            <p:cNvSpPr/>
            <p:nvPr/>
          </p:nvSpPr>
          <p:spPr>
            <a:xfrm>
              <a:off x="0" y="0"/>
              <a:ext cx="10741527" cy="8803639"/>
            </a:xfrm>
            <a:custGeom>
              <a:avLst/>
              <a:gdLst/>
              <a:ahLst/>
              <a:cxnLst/>
              <a:rect l="l" t="t" r="r" b="b"/>
              <a:pathLst>
                <a:path w="10741527" h="8803639">
                  <a:moveTo>
                    <a:pt x="0" y="1467358"/>
                  </a:moveTo>
                  <a:cubicBezTo>
                    <a:pt x="0" y="656971"/>
                    <a:pt x="550158" y="0"/>
                    <a:pt x="1228788" y="0"/>
                  </a:cubicBezTo>
                  <a:lnTo>
                    <a:pt x="9512739" y="0"/>
                  </a:lnTo>
                  <a:cubicBezTo>
                    <a:pt x="10191369" y="0"/>
                    <a:pt x="10741527" y="656971"/>
                    <a:pt x="10741527" y="1467358"/>
                  </a:cubicBezTo>
                  <a:lnTo>
                    <a:pt x="10741527" y="7336282"/>
                  </a:lnTo>
                  <a:cubicBezTo>
                    <a:pt x="10741527" y="8146669"/>
                    <a:pt x="10191369" y="8803639"/>
                    <a:pt x="9512739" y="8803639"/>
                  </a:cubicBezTo>
                  <a:lnTo>
                    <a:pt x="1228788" y="8803639"/>
                  </a:lnTo>
                  <a:cubicBezTo>
                    <a:pt x="550158" y="8803640"/>
                    <a:pt x="0" y="8146669"/>
                    <a:pt x="0" y="733628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1" name="Freeform 11">
            <a:extLst>
              <a:ext uri="{FF2B5EF4-FFF2-40B4-BE49-F238E27FC236}">
                <a16:creationId xmlns:a16="http://schemas.microsoft.com/office/drawing/2014/main" id="{F2B3A756-3C1F-20D6-AEEC-D4A4EC874135}"/>
              </a:ext>
            </a:extLst>
          </p:cNvPr>
          <p:cNvSpPr/>
          <p:nvPr/>
        </p:nvSpPr>
        <p:spPr>
          <a:xfrm>
            <a:off x="6330174" y="1315962"/>
            <a:ext cx="4907955" cy="3895690"/>
          </a:xfrm>
          <a:custGeom>
            <a:avLst/>
            <a:gdLst/>
            <a:ahLst/>
            <a:cxnLst/>
            <a:rect l="l" t="t" r="r" b="b"/>
            <a:pathLst>
              <a:path w="7266849" h="5768062">
                <a:moveTo>
                  <a:pt x="0" y="0"/>
                </a:moveTo>
                <a:lnTo>
                  <a:pt x="7266849" y="0"/>
                </a:lnTo>
                <a:lnTo>
                  <a:pt x="7266849" y="5768062"/>
                </a:lnTo>
                <a:lnTo>
                  <a:pt x="0" y="5768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42" name="Group 12">
            <a:extLst>
              <a:ext uri="{FF2B5EF4-FFF2-40B4-BE49-F238E27FC236}">
                <a16:creationId xmlns:a16="http://schemas.microsoft.com/office/drawing/2014/main" id="{21F9D6FA-EB08-DB73-CEB3-77F0DA3ED4E3}"/>
              </a:ext>
            </a:extLst>
          </p:cNvPr>
          <p:cNvGrpSpPr/>
          <p:nvPr/>
        </p:nvGrpSpPr>
        <p:grpSpPr>
          <a:xfrm>
            <a:off x="479159" y="5538536"/>
            <a:ext cx="11042282" cy="1067537"/>
            <a:chOff x="0" y="0"/>
            <a:chExt cx="16988519" cy="1493598"/>
          </a:xfrm>
        </p:grpSpPr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E4008B91-F326-7069-C6DA-66B412397E2A}"/>
                </a:ext>
              </a:extLst>
            </p:cNvPr>
            <p:cNvSpPr/>
            <p:nvPr/>
          </p:nvSpPr>
          <p:spPr>
            <a:xfrm>
              <a:off x="0" y="0"/>
              <a:ext cx="16988518" cy="1493598"/>
            </a:xfrm>
            <a:custGeom>
              <a:avLst/>
              <a:gdLst/>
              <a:ahLst/>
              <a:cxnLst/>
              <a:rect l="l" t="t" r="r" b="b"/>
              <a:pathLst>
                <a:path w="16988518" h="1493598">
                  <a:moveTo>
                    <a:pt x="0" y="248947"/>
                  </a:moveTo>
                  <a:cubicBezTo>
                    <a:pt x="0" y="111460"/>
                    <a:pt x="870115" y="0"/>
                    <a:pt x="1943419" y="0"/>
                  </a:cubicBezTo>
                  <a:lnTo>
                    <a:pt x="15045100" y="0"/>
                  </a:lnTo>
                  <a:cubicBezTo>
                    <a:pt x="16118404" y="0"/>
                    <a:pt x="16988518" y="111460"/>
                    <a:pt x="16988518" y="248947"/>
                  </a:cubicBezTo>
                  <a:lnTo>
                    <a:pt x="16988518" y="1244651"/>
                  </a:lnTo>
                  <a:cubicBezTo>
                    <a:pt x="16988518" y="1382139"/>
                    <a:pt x="16118404" y="1493598"/>
                    <a:pt x="15045100" y="1493598"/>
                  </a:cubicBezTo>
                  <a:lnTo>
                    <a:pt x="1943419" y="1493598"/>
                  </a:lnTo>
                  <a:cubicBezTo>
                    <a:pt x="870115" y="1493598"/>
                    <a:pt x="0" y="1382139"/>
                    <a:pt x="0" y="124465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4" name="TextBox 14">
            <a:extLst>
              <a:ext uri="{FF2B5EF4-FFF2-40B4-BE49-F238E27FC236}">
                <a16:creationId xmlns:a16="http://schemas.microsoft.com/office/drawing/2014/main" id="{97D37727-A8AA-C42F-A37B-344089433731}"/>
              </a:ext>
            </a:extLst>
          </p:cNvPr>
          <p:cNvSpPr txBox="1"/>
          <p:nvPr/>
        </p:nvSpPr>
        <p:spPr>
          <a:xfrm>
            <a:off x="670560" y="5765546"/>
            <a:ext cx="10599123" cy="636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15"/>
              </a:lnSpc>
            </a:pPr>
            <a:r>
              <a:rPr lang="en-US" sz="1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Conclusión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 Bold"/>
                <a:cs typeface="Calibri" panose="020F0502020204030204" pitchFamily="34" charset="0"/>
                <a:sym typeface="Canva Sans Bold"/>
              </a:rPr>
              <a:t> final: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Modelo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Robusto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 con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alta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capacidad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predictiva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, bajo error de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prediccion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 y sin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indicios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 de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sobreajustes.Las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 variables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identificadas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permiten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entender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los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principales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factores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 que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impulsan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el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gasto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turistico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nva Sans"/>
                <a:cs typeface="Calibri" panose="020F0502020204030204" pitchFamily="34" charset="0"/>
                <a:sym typeface="Canva Sans"/>
              </a:rPr>
              <a:t>.</a:t>
            </a:r>
            <a:endParaRPr lang="en-US" sz="1868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nva Sans"/>
              <a:cs typeface="Calibri" panose="020F0502020204030204" pitchFamily="34" charset="0"/>
              <a:sym typeface="Canva Sans"/>
            </a:endParaRP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9F4DDCC6-1D23-E825-C9EF-B419650D56E6}"/>
              </a:ext>
            </a:extLst>
          </p:cNvPr>
          <p:cNvSpPr/>
          <p:nvPr/>
        </p:nvSpPr>
        <p:spPr>
          <a:xfrm flipH="1">
            <a:off x="452582" y="0"/>
            <a:ext cx="120073" cy="1074543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35837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7: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Exportación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Modelo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836039"/>
            <a:ext cx="5212080" cy="37490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10359"/>
            <a:ext cx="466344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9488"/>
                </a:solidFill>
              </a:defRPr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Serialización Física (.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pkl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• Uso de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joblib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para exportar el objeto del Pipeline acoplado estándar.</a:t>
            </a:r>
          </a:p>
          <a:p>
            <a:pPr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• Nombre físico: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modelo_turismo.pkl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• El archivo almacena tanto el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StandardScaler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como el estimador de ensamble final, asegurando que la inferencia de nuevos viajes comparta exactamente la misma lógica.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36039"/>
            <a:ext cx="5303520" cy="37490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2110359"/>
            <a:ext cx="475488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F46E5"/>
                </a:solidFill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Metadatos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Técnicos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(.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json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Exportación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estructurada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trazabilidad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comercial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y control de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versiones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mediante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archivo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JSON.</a:t>
            </a:r>
          </a:p>
          <a:p>
            <a:pPr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Nombre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físico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modelo_metadata.json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Información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grabada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Listado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orden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secuencial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de variables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predictoras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hiperparámetros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Optuna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métricas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del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modelo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final.</a:t>
            </a:r>
          </a:p>
        </p:txBody>
      </p:sp>
      <p:sp>
        <p:nvSpPr>
          <p:cNvPr id="7" name="Big Number">
            <a:extLst>
              <a:ext uri="{FF2B5EF4-FFF2-40B4-BE49-F238E27FC236}">
                <a16:creationId xmlns:a16="http://schemas.microsoft.com/office/drawing/2014/main" id="{F9C06F3F-D821-ABEA-3BA7-6FA8E64E3152}"/>
              </a:ext>
            </a:extLst>
          </p:cNvPr>
          <p:cNvSpPr/>
          <p:nvPr/>
        </p:nvSpPr>
        <p:spPr>
          <a:xfrm>
            <a:off x="11269683" y="0"/>
            <a:ext cx="922316" cy="905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4000" b="1" dirty="0">
                <a:solidFill>
                  <a:srgbClr val="E2E8F0"/>
                </a:solidFill>
                <a:latin typeface="Arial"/>
              </a:rPr>
              <a:t>0</a:t>
            </a:r>
            <a:r>
              <a:rPr lang="es-ES" sz="4000" b="1" dirty="0">
                <a:solidFill>
                  <a:srgbClr val="E2E8F0"/>
                </a:solidFill>
                <a:latin typeface="Arial"/>
              </a:rPr>
              <a:t>7</a:t>
            </a:r>
            <a:endParaRPr sz="4000" b="1" dirty="0">
              <a:solidFill>
                <a:srgbClr val="E2E8F0"/>
              </a:solidFill>
              <a:latin typeface="Arial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082E48A-2A50-DB21-93DD-E8BD4DC707C9}"/>
              </a:ext>
            </a:extLst>
          </p:cNvPr>
          <p:cNvSpPr/>
          <p:nvPr/>
        </p:nvSpPr>
        <p:spPr>
          <a:xfrm>
            <a:off x="0" y="6129196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D0B122C-C25E-7C20-2FB7-4BDFC2AD976E}"/>
              </a:ext>
            </a:extLst>
          </p:cNvPr>
          <p:cNvSpPr/>
          <p:nvPr/>
        </p:nvSpPr>
        <p:spPr>
          <a:xfrm flipH="1">
            <a:off x="452582" y="0"/>
            <a:ext cx="120073" cy="1074543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12FB13C2-53D1-FE88-0328-EBF5C8C7B1FA}"/>
              </a:ext>
            </a:extLst>
          </p:cNvPr>
          <p:cNvSpPr/>
          <p:nvPr/>
        </p:nvSpPr>
        <p:spPr>
          <a:xfrm>
            <a:off x="0" y="6129196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99764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Conclusiones Finales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6170" y="1234439"/>
            <a:ext cx="11265227" cy="52931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4934" y="1541891"/>
            <a:ext cx="997691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El desarrollo metodológico consolidado en este proyecto ha permitido transformar una base de datos de tendencias turísticas transaccionales en un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sistema predictivo de alto rendimiento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. A través de las fases ejecutadas, nuestro grupo ha logrado alcanzar hitos clave:</a:t>
            </a:r>
          </a:p>
          <a:p>
            <a:pPr marL="342900" indent="-342900" algn="just">
              <a:spcBef>
                <a:spcPts val="1200"/>
              </a:spcBef>
              <a:buFont typeface="+mj-lt"/>
              <a:buAutoNum type="arabicPeriod"/>
              <a:defRPr sz="1400">
                <a:solidFill>
                  <a:srgbClr val="475569"/>
                </a:solidFill>
              </a:defRPr>
            </a:pP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Saneamiento y Calidad de Datos: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La implementación de procesos de normalización de textos, limpieza de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outliers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mediante 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IQR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 y mapeo de variables ordinales ha garantizado que el modelo trabaje sobre datos íntegros y coherentes, eliminando sesgos tipográficos y numéricos.</a:t>
            </a:r>
          </a:p>
          <a:p>
            <a:pPr marL="342900" indent="-342900" algn="just">
              <a:spcBef>
                <a:spcPts val="1200"/>
              </a:spcBef>
              <a:buFont typeface="+mj-lt"/>
              <a:buAutoNum type="arabicPeriod"/>
              <a:defRPr sz="1400">
                <a:solidFill>
                  <a:srgbClr val="475569"/>
                </a:solidFill>
              </a:defRPr>
            </a:pP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Inteligencia Analítica y Multivariante: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El EDA realizado, que integra inferencia estadística (T-Test) y análisis visual multivariado, ha permitido validar que factores como el propósito del viaje, el destino y la sostenibilidad son predictores determinantes del gasto final.</a:t>
            </a:r>
          </a:p>
          <a:p>
            <a:pPr marL="342900" indent="-342900" algn="just">
              <a:spcBef>
                <a:spcPts val="1200"/>
              </a:spcBef>
              <a:buFont typeface="+mj-lt"/>
              <a:buAutoNum type="arabicPeriod"/>
              <a:defRPr sz="1400">
                <a:solidFill>
                  <a:srgbClr val="475569"/>
                </a:solidFill>
              </a:defRPr>
            </a:pP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Optimización de Precisión: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La transición desde un modelo base de Árbol de Decisión hacia un ensamble optimizado mediante </a:t>
            </a:r>
            <a:r>
              <a:rPr lang="es-ES" b="1" dirty="0" err="1">
                <a:latin typeface="Calibri" panose="020F0502020204030204" pitchFamily="34" charset="0"/>
                <a:cs typeface="Calibri" panose="020F0502020204030204" pitchFamily="34" charset="0"/>
              </a:rPr>
              <a:t>Gradient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b="1" dirty="0" err="1">
                <a:latin typeface="Calibri" panose="020F0502020204030204" pitchFamily="34" charset="0"/>
                <a:cs typeface="Calibri" panose="020F0502020204030204" pitchFamily="34" charset="0"/>
              </a:rPr>
              <a:t>Boosting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 y validación Bayesiana (</a:t>
            </a:r>
            <a:r>
              <a:rPr lang="es-ES" b="1" dirty="0" err="1">
                <a:latin typeface="Calibri" panose="020F0502020204030204" pitchFamily="34" charset="0"/>
                <a:cs typeface="Calibri" panose="020F0502020204030204" pitchFamily="34" charset="0"/>
              </a:rPr>
              <a:t>Optuna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ha permitido maximizar el coeficiente de determinación ( R2 ), logrando una capacidad predictiva robusta con un control estricto sobre el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overfitting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 algn="just">
              <a:spcBef>
                <a:spcPts val="1200"/>
              </a:spcBef>
              <a:buFont typeface="+mj-lt"/>
              <a:buAutoNum type="arabicPeriod"/>
              <a:defRPr sz="1400">
                <a:solidFill>
                  <a:srgbClr val="475569"/>
                </a:solidFill>
              </a:defRPr>
            </a:pP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Viabilidad Operativa: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La construcción final de un Pipeline serializado, listo para entornos de producción y capaz de realizar inferencias en tiempo real, demuestra que la solución no solo es teóricamente sólida, sino prácticamente aplicable para la toma de decisiones comerciales en la industria turística.</a:t>
            </a:r>
          </a:p>
          <a:p>
            <a:pPr algn="just"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rPr lang="es-ES" i="1" dirty="0">
                <a:latin typeface="Calibri" panose="020F0502020204030204" pitchFamily="34" charset="0"/>
                <a:cs typeface="Calibri" panose="020F0502020204030204" pitchFamily="34" charset="0"/>
              </a:rPr>
              <a:t>En síntesis, este proyecto constituye un activo estratégico que permite anticipar el comportamiento financiero del cliente final, optimizando la capacidad de cotización y planificación de servicios turísticos basados en datos.</a:t>
            </a:r>
          </a:p>
        </p:txBody>
      </p:sp>
      <p:sp>
        <p:nvSpPr>
          <p:cNvPr id="9" name="Big Number">
            <a:extLst>
              <a:ext uri="{FF2B5EF4-FFF2-40B4-BE49-F238E27FC236}">
                <a16:creationId xmlns:a16="http://schemas.microsoft.com/office/drawing/2014/main" id="{FF105967-554B-D08D-4DED-DED6BEDC2573}"/>
              </a:ext>
            </a:extLst>
          </p:cNvPr>
          <p:cNvSpPr/>
          <p:nvPr/>
        </p:nvSpPr>
        <p:spPr>
          <a:xfrm>
            <a:off x="6096000" y="0"/>
            <a:ext cx="6095999" cy="55399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es-ES" sz="2000" b="1" dirty="0">
                <a:solidFill>
                  <a:srgbClr val="E2E8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Conclusiones Finales</a:t>
            </a:r>
            <a:endParaRPr sz="2000" b="1" dirty="0">
              <a:solidFill>
                <a:srgbClr val="E2E8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EB3251E-1961-8A6B-AA2D-B8C7A17209D0}"/>
              </a:ext>
            </a:extLst>
          </p:cNvPr>
          <p:cNvSpPr/>
          <p:nvPr/>
        </p:nvSpPr>
        <p:spPr>
          <a:xfrm flipH="1">
            <a:off x="452582" y="0"/>
            <a:ext cx="120073" cy="1074543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4ADBB53-5DF4-B8DB-EA3C-B0F5E98ABB57}"/>
              </a:ext>
            </a:extLst>
          </p:cNvPr>
          <p:cNvSpPr/>
          <p:nvPr/>
        </p:nvSpPr>
        <p:spPr>
          <a:xfrm>
            <a:off x="0" y="6129196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52DB168-CC06-C60E-BCFB-FAEDB2A80727}"/>
              </a:ext>
            </a:extLst>
          </p:cNvPr>
          <p:cNvSpPr/>
          <p:nvPr/>
        </p:nvSpPr>
        <p:spPr>
          <a:xfrm>
            <a:off x="609100" y="1410544"/>
            <a:ext cx="5212278" cy="4356515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99764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Despliegue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Streamlit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0491" y="1569335"/>
            <a:ext cx="466344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200" b="1">
                <a:solidFill>
                  <a:srgbClr val="0D9488"/>
                </a:solidFill>
              </a:defRPr>
            </a:pP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Interfaz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dirty="0" err="1">
                <a:latin typeface="Calibri" panose="020F0502020204030204" pitchFamily="34" charset="0"/>
                <a:cs typeface="Calibri" panose="020F0502020204030204" pitchFamily="34" charset="0"/>
              </a:rPr>
              <a:t>Inferencia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• Entrada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dinámica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: Sliders y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selectores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interactivos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para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noches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de estancia,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presupuesto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individual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diario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número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viajeros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país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Inferencia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tiempo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real: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Integración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asíncrona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cargando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el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Pipeline (.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pkl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desde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para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predecir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costos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de forma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inmediata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spcBef>
                <a:spcPts val="1200"/>
              </a:spcBef>
              <a:defRPr sz="1400">
                <a:solidFill>
                  <a:srgbClr val="475569"/>
                </a:solidFill>
              </a:defRPr>
            </a:pP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Herramienta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comercial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Facilita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que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perfiles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ventas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diseño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rutas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estimen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gastos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nuevos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perfiles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clientes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 con total </a:t>
            </a:r>
            <a:r>
              <a:rPr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confianza</a:t>
            </a:r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33339" y="1410544"/>
            <a:ext cx="6008182" cy="435651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72452" y="3728676"/>
            <a:ext cx="4551479" cy="1761601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2452" y="3918353"/>
            <a:ext cx="4484783" cy="147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D9488"/>
                </a:solidFill>
                <a:latin typeface="Courier New"/>
              </a:defRPr>
            </a:pPr>
            <a:r>
              <a:rPr dirty="0"/>
              <a:t>📂 [</a:t>
            </a:r>
            <a:r>
              <a:rPr dirty="0" err="1"/>
              <a:t>Cargando</a:t>
            </a:r>
            <a:r>
              <a:rPr dirty="0"/>
              <a:t> </a:t>
            </a:r>
            <a:r>
              <a:rPr dirty="0" err="1"/>
              <a:t>modelo_turismo.pkl</a:t>
            </a:r>
            <a:r>
              <a:rPr dirty="0"/>
              <a:t>...]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  <a:latin typeface="Courier New"/>
              </a:defRPr>
            </a:pPr>
            <a:r>
              <a:rPr dirty="0"/>
              <a:t>⚙️ </a:t>
            </a:r>
            <a:r>
              <a:rPr dirty="0" err="1"/>
              <a:t>Duración</a:t>
            </a:r>
            <a:r>
              <a:rPr dirty="0"/>
              <a:t> del </a:t>
            </a:r>
            <a:r>
              <a:rPr dirty="0" err="1"/>
              <a:t>viaje</a:t>
            </a:r>
            <a:r>
              <a:rPr dirty="0"/>
              <a:t>: [ 7 ] </a:t>
            </a:r>
            <a:r>
              <a:rPr dirty="0" err="1"/>
              <a:t>noches</a:t>
            </a:r>
            <a:endParaRPr dirty="0"/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Courier New"/>
              </a:defRPr>
            </a:pPr>
            <a:r>
              <a:rPr dirty="0"/>
              <a:t>💵 </a:t>
            </a:r>
            <a:r>
              <a:rPr dirty="0" err="1"/>
              <a:t>Presupuesto</a:t>
            </a:r>
            <a:r>
              <a:rPr dirty="0"/>
              <a:t> </a:t>
            </a:r>
            <a:r>
              <a:rPr dirty="0" err="1"/>
              <a:t>diario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persona: [ </a:t>
            </a:r>
            <a:r>
              <a:rPr lang="es-ES" dirty="0"/>
              <a:t>59</a:t>
            </a:r>
            <a:r>
              <a:rPr dirty="0"/>
              <a:t>0 USD ]</a:t>
            </a:r>
            <a:endParaRPr lang="es-ES" dirty="0"/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Courier New"/>
              </a:defRPr>
            </a:pPr>
            <a:r>
              <a:rPr lang="es-ES" dirty="0"/>
              <a:t>   …</a:t>
            </a:r>
            <a:endParaRPr dirty="0"/>
          </a:p>
          <a:p>
            <a:pPr>
              <a:spcBef>
                <a:spcPts val="1500"/>
              </a:spcBef>
              <a:defRPr sz="1300" b="1">
                <a:solidFill>
                  <a:srgbClr val="0D9488"/>
                </a:solidFill>
                <a:latin typeface="Courier New"/>
              </a:defRPr>
            </a:pPr>
            <a:r>
              <a:rPr dirty="0"/>
              <a:t>🎯 GASTO TOTAL ESTIMADO: $</a:t>
            </a:r>
            <a:r>
              <a:rPr lang="es-ES" dirty="0"/>
              <a:t>1,189.17</a:t>
            </a:r>
            <a:r>
              <a:rPr dirty="0"/>
              <a:t> USD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2C6667F-6C3D-7FCF-CBA0-2C2C3E63C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7377" y="1937442"/>
            <a:ext cx="5793346" cy="3370995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E6DA1FC7-1131-E7B2-C876-6F49F52017B2}"/>
              </a:ext>
            </a:extLst>
          </p:cNvPr>
          <p:cNvSpPr/>
          <p:nvPr/>
        </p:nvSpPr>
        <p:spPr>
          <a:xfrm flipH="1">
            <a:off x="452582" y="0"/>
            <a:ext cx="120073" cy="1074543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Big Number">
            <a:extLst>
              <a:ext uri="{FF2B5EF4-FFF2-40B4-BE49-F238E27FC236}">
                <a16:creationId xmlns:a16="http://schemas.microsoft.com/office/drawing/2014/main" id="{6B5A9F1C-A038-7C64-D45C-4DC0554B3F36}"/>
              </a:ext>
            </a:extLst>
          </p:cNvPr>
          <p:cNvSpPr/>
          <p:nvPr/>
        </p:nvSpPr>
        <p:spPr>
          <a:xfrm>
            <a:off x="6096000" y="0"/>
            <a:ext cx="6095999" cy="55399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es-ES" sz="2000" b="1" dirty="0">
                <a:solidFill>
                  <a:srgbClr val="E2E8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Despliegue en </a:t>
            </a:r>
            <a:r>
              <a:rPr lang="es-ES" sz="2000" b="1" dirty="0" err="1">
                <a:solidFill>
                  <a:srgbClr val="E2E8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Streamlit</a:t>
            </a:r>
            <a:endParaRPr lang="es-ES" sz="2000" b="1" dirty="0">
              <a:solidFill>
                <a:srgbClr val="E2E8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69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81708" y="4208911"/>
            <a:ext cx="41858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F1F5F9"/>
                </a:solidFill>
              </a:defRPr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modelo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predictivo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 sus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metadatos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están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totalmente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preparados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para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integrarse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toma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decisiones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comerciales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la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industria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turística</a:t>
            </a:r>
            <a:endParaRPr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75632" y="5683132"/>
            <a:ext cx="31918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rPr dirty="0">
                <a:solidFill>
                  <a:srgbClr val="6B88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Grupo 4</a:t>
            </a:r>
            <a:r>
              <a:rPr lang="es-ES" dirty="0">
                <a:solidFill>
                  <a:srgbClr val="6B889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Sonia, Manuel, Noelia e Irene.</a:t>
            </a:r>
            <a:endParaRPr dirty="0">
              <a:solidFill>
                <a:srgbClr val="6B889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4857" y="2206272"/>
            <a:ext cx="10881360" cy="861774"/>
          </a:xfrm>
          <a:prstGeom prst="rect">
            <a:avLst/>
          </a:prstGeom>
          <a:noFill/>
          <a:ln>
            <a:solidFill>
              <a:srgbClr val="0B1329"/>
            </a:solidFill>
          </a:ln>
        </p:spPr>
        <p:txBody>
          <a:bodyPr wrap="square">
            <a:sp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000" b="1">
                <a:solidFill>
                  <a:srgbClr val="FFFFFF"/>
                </a:solidFill>
                <a:latin typeface="Arial"/>
              </a:defRPr>
            </a:pPr>
            <a:r>
              <a:rPr lang="en-US" sz="5400" kern="1200" cap="all" spc="200" baseline="0" dirty="0">
                <a:ln>
                  <a:solidFill>
                    <a:srgbClr val="0B1329"/>
                  </a:solidFill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¡</a:t>
            </a:r>
            <a:r>
              <a:rPr lang="en-US" sz="5400" kern="1200" cap="all" spc="200" baseline="0" dirty="0" err="1">
                <a:ln>
                  <a:solidFill>
                    <a:srgbClr val="0B1329"/>
                  </a:solidFill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Muchas</a:t>
            </a:r>
            <a:r>
              <a:rPr lang="en-US" sz="5400" kern="1200" cap="all" spc="200" baseline="0" dirty="0">
                <a:ln>
                  <a:solidFill>
                    <a:srgbClr val="0B1329"/>
                  </a:solidFill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 gracias!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C9EAF91-B849-4445-D24E-F6BA5A7D8BD7}"/>
              </a:ext>
            </a:extLst>
          </p:cNvPr>
          <p:cNvSpPr/>
          <p:nvPr/>
        </p:nvSpPr>
        <p:spPr>
          <a:xfrm>
            <a:off x="0" y="6129196"/>
            <a:ext cx="12191999" cy="737857"/>
          </a:xfrm>
          <a:prstGeom prst="rect">
            <a:avLst/>
          </a:prstGeom>
          <a:solidFill>
            <a:srgbClr val="CEEA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F25DB19-FB62-DDD0-BBD1-7C79BD489BA1}"/>
              </a:ext>
            </a:extLst>
          </p:cNvPr>
          <p:cNvSpPr/>
          <p:nvPr/>
        </p:nvSpPr>
        <p:spPr>
          <a:xfrm flipH="1">
            <a:off x="11536217" y="4157691"/>
            <a:ext cx="110835" cy="1833218"/>
          </a:xfrm>
          <a:prstGeom prst="rect">
            <a:avLst/>
          </a:prstGeom>
          <a:solidFill>
            <a:srgbClr val="6B88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1825082"/>
      </p:ext>
    </p:extLst>
  </p:cSld>
  <p:clrMapOvr>
    <a:masterClrMapping/>
  </p:clrMapOvr>
</p:sld>
</file>

<file path=ppt/theme/theme1.xml><?xml version="1.0" encoding="utf-8"?>
<a:theme xmlns:a="http://schemas.openxmlformats.org/drawingml/2006/main" name="Paquete">
  <a:themeElements>
    <a:clrScheme name="Paque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que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que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Paquete</Template>
  <TotalTime>495</TotalTime>
  <Words>1705</Words>
  <Application>Microsoft Office PowerPoint</Application>
  <PresentationFormat>Panorámica</PresentationFormat>
  <Paragraphs>134</Paragraphs>
  <Slides>17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ADLaM Display</vt:lpstr>
      <vt:lpstr>Aptos</vt:lpstr>
      <vt:lpstr>Arial</vt:lpstr>
      <vt:lpstr>Calibri</vt:lpstr>
      <vt:lpstr>Canva Sans Bold</vt:lpstr>
      <vt:lpstr>Gill Sans MT</vt:lpstr>
      <vt:lpstr>Wingdings</vt:lpstr>
      <vt:lpstr>Paquete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Usuario</dc:creator>
  <cp:keywords/>
  <dc:description>generated using python-pptx</dc:description>
  <cp:lastModifiedBy>Usuario</cp:lastModifiedBy>
  <cp:revision>10</cp:revision>
  <dcterms:created xsi:type="dcterms:W3CDTF">2013-01-27T09:14:16Z</dcterms:created>
  <dcterms:modified xsi:type="dcterms:W3CDTF">2026-06-16T17:19:32Z</dcterms:modified>
  <cp:category/>
</cp:coreProperties>
</file>